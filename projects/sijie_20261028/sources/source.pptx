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11"/>
  </p:notesMasterIdLst>
  <p:sldIdLst>
    <p:sldId id="256" r:id="rId4"/>
    <p:sldId id="427" r:id="rId5"/>
    <p:sldId id="422" r:id="rId6"/>
    <p:sldId id="424" r:id="rId7"/>
    <p:sldId id="425" r:id="rId8"/>
    <p:sldId id="426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460" y="284781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82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67858-2669-597E-C783-B470BD6D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82273E-6DE7-14C0-75BF-DC711DBDC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C73CA-6EB6-82F0-72B5-43E11CC8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9447-A5E6-4AF1-B91C-E41E669677F1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28757-E571-9327-D531-9F5EAF4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23CA6-8305-A5EE-E436-19C3496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AE1A8-FC57-4C57-A899-A7388D8BB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0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7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openJiuwen</a:t>
            </a:r>
            <a:r>
              <a:rPr lang="en-US" altLang="zh-CN" dirty="0"/>
              <a:t> </a:t>
            </a:r>
            <a:r>
              <a:rPr lang="zh-CN" altLang="en-US" dirty="0"/>
              <a:t>创意大赛提交模板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1145A6A4-8EAF-45AC-8D5B-79E3BFFBB9E0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创意名称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6111ED-963D-46F4-85AB-E9DCC68E3ED9}"/>
              </a:ext>
            </a:extLst>
          </p:cNvPr>
          <p:cNvSpPr/>
          <p:nvPr/>
        </p:nvSpPr>
        <p:spPr>
          <a:xfrm>
            <a:off x="518689" y="1053884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	创意描述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  <a:r>
              <a:rPr lang="zh-CN" altLang="en-US" dirty="0"/>
              <a:t>：（</a:t>
            </a:r>
            <a:r>
              <a:rPr lang="en-US" altLang="zh-CN" dirty="0"/>
              <a:t>&lt;500</a:t>
            </a:r>
            <a:r>
              <a:rPr lang="zh-CN" altLang="en-US" dirty="0"/>
              <a:t>字）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6ECBD-A721-4AD2-B2AF-9ADDA264E9FA}"/>
              </a:ext>
            </a:extLst>
          </p:cNvPr>
          <p:cNvSpPr/>
          <p:nvPr/>
        </p:nvSpPr>
        <p:spPr>
          <a:xfrm>
            <a:off x="797658" y="5077577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所属主题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426FC6-34D5-4887-8F37-EB2224DB683A}"/>
              </a:ext>
            </a:extLst>
          </p:cNvPr>
          <p:cNvSpPr/>
          <p:nvPr/>
        </p:nvSpPr>
        <p:spPr>
          <a:xfrm>
            <a:off x="7118384" y="1053884"/>
            <a:ext cx="413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应用场景</a:t>
            </a:r>
            <a:r>
              <a:rPr lang="zh-CN" altLang="en-US" b="1" dirty="0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6943AB-BE73-4EA4-86B4-BE89093FCE99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</p:cNvCxnSpPr>
          <p:nvPr/>
        </p:nvCxnSpPr>
        <p:spPr>
          <a:xfrm>
            <a:off x="88900" y="4998070"/>
            <a:ext cx="57953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811864" y="889348"/>
            <a:ext cx="0" cy="54362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99E9E4-BDBE-42DC-B774-A2E6D051AA28}"/>
              </a:ext>
            </a:extLst>
          </p:cNvPr>
          <p:cNvSpPr/>
          <p:nvPr/>
        </p:nvSpPr>
        <p:spPr>
          <a:xfrm>
            <a:off x="2371445" y="2446171"/>
            <a:ext cx="9909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rgbClr val="0070C0"/>
                </a:solidFill>
              </a:rPr>
              <a:t>&lt;500</a:t>
            </a:r>
            <a:r>
              <a:rPr lang="zh-CN" altLang="zh-CN" i="1" dirty="0">
                <a:solidFill>
                  <a:srgbClr val="0070C0"/>
                </a:solidFill>
              </a:rPr>
              <a:t>字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FC3242-0537-4CD3-8635-4D2A7F2E739D}"/>
              </a:ext>
            </a:extLst>
          </p:cNvPr>
          <p:cNvSpPr/>
          <p:nvPr/>
        </p:nvSpPr>
        <p:spPr>
          <a:xfrm>
            <a:off x="922152" y="5574886"/>
            <a:ext cx="4455759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办公、Coding、科研、设备互联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22185-319B-435F-B3DC-ABB2066835BB}"/>
              </a:ext>
            </a:extLst>
          </p:cNvPr>
          <p:cNvSpPr/>
          <p:nvPr/>
        </p:nvSpPr>
        <p:spPr>
          <a:xfrm>
            <a:off x="6579031" y="3105834"/>
            <a:ext cx="4967205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面向什么用户，什么场景，解决什么痛点；</a:t>
            </a:r>
            <a:endParaRPr lang="en-US" altLang="zh-CN" i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用户有什么潜在需求；</a:t>
            </a:r>
            <a:endParaRPr lang="en-US" altLang="zh-CN" i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对用户或者垂直领域会产生什么样的影响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520" y="6355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AI生成</a:t>
            </a:r>
          </a:p>
        </p:txBody>
      </p:sp>
    </p:spTree>
    <p:extLst>
      <p:ext uri="{BB962C8B-B14F-4D97-AF65-F5344CB8AC3E}">
        <p14:creationId xmlns:p14="http://schemas.microsoft.com/office/powerpoint/2010/main" val="25642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 txBox="1">
            <a:spLocks/>
          </p:cNvSpPr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创意方案构想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 txBox="1"/>
          <p:nvPr/>
        </p:nvSpPr>
        <p:spPr>
          <a:xfrm>
            <a:off x="415677" y="3763412"/>
            <a:ext cx="1901315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方案优势（可选）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 txBox="1"/>
          <p:nvPr/>
        </p:nvSpPr>
        <p:spPr>
          <a:xfrm>
            <a:off x="300624" y="1023604"/>
            <a:ext cx="2414076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方案详情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（必填）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 txBox="1"/>
          <p:nvPr/>
        </p:nvSpPr>
        <p:spPr>
          <a:xfrm>
            <a:off x="5940344" y="3763412"/>
            <a:ext cx="1984763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技术依赖（可选）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B58DEC-1461-4546-BD72-3307C4F2234F}"/>
              </a:ext>
            </a:extLst>
          </p:cNvPr>
          <p:cNvSpPr/>
          <p:nvPr/>
        </p:nvSpPr>
        <p:spPr>
          <a:xfrm>
            <a:off x="6096008" y="4729352"/>
            <a:ext cx="5405843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如果入选，方案如何打磨验证，简单分析下依赖哪些资源，预期的</a:t>
            </a:r>
            <a:r>
              <a:rPr lang="en-US" altLang="zh-CN" i="1" dirty="0">
                <a:solidFill>
                  <a:srgbClr val="0070C0"/>
                </a:solidFill>
              </a:rPr>
              <a:t>Demo</a:t>
            </a:r>
            <a:r>
              <a:rPr lang="zh-CN" altLang="en-US" i="1" dirty="0">
                <a:solidFill>
                  <a:srgbClr val="0070C0"/>
                </a:solidFill>
              </a:rPr>
              <a:t>形式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A7FA18-2375-45D9-8241-C5C5E7310540}"/>
              </a:ext>
            </a:extLst>
          </p:cNvPr>
          <p:cNvSpPr/>
          <p:nvPr/>
        </p:nvSpPr>
        <p:spPr>
          <a:xfrm>
            <a:off x="300624" y="4729352"/>
            <a:ext cx="5405843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若业内有类似场景或专利，方案的优势在哪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9216FF-5576-48BB-8875-CFBEAAF2B42A}"/>
              </a:ext>
            </a:extLst>
          </p:cNvPr>
          <p:cNvSpPr/>
          <p:nvPr/>
        </p:nvSpPr>
        <p:spPr>
          <a:xfrm>
            <a:off x="345362" y="1969431"/>
            <a:ext cx="5405843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i="1" dirty="0">
                <a:solidFill>
                  <a:srgbClr val="0070C0"/>
                </a:solidFill>
              </a:rPr>
              <a:t>此方案的核心能力</a:t>
            </a:r>
          </a:p>
        </p:txBody>
      </p:sp>
    </p:spTree>
    <p:extLst>
      <p:ext uri="{BB962C8B-B14F-4D97-AF65-F5344CB8AC3E}">
        <p14:creationId xmlns:p14="http://schemas.microsoft.com/office/powerpoint/2010/main" val="225991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1348236-2F22-4551-9242-B378DB13C9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或示意图（可选，有更好）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1BDE45-8BAB-4829-A0FD-4F86D507C574}"/>
              </a:ext>
            </a:extLst>
          </p:cNvPr>
          <p:cNvSpPr/>
          <p:nvPr/>
        </p:nvSpPr>
        <p:spPr>
          <a:xfrm>
            <a:off x="3393078" y="2784272"/>
            <a:ext cx="5405843" cy="17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i="1" dirty="0">
                <a:solidFill>
                  <a:srgbClr val="0070C0"/>
                </a:solidFill>
              </a:rPr>
              <a:t>最终构想效果示意图或</a:t>
            </a:r>
            <a:r>
              <a:rPr lang="en-US" altLang="zh-CN" i="1" dirty="0">
                <a:solidFill>
                  <a:srgbClr val="0070C0"/>
                </a:solidFill>
              </a:rPr>
              <a:t>DEMO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i="1" dirty="0">
                <a:solidFill>
                  <a:srgbClr val="0070C0"/>
                </a:solidFill>
              </a:rPr>
              <a:t>什么时机、什么方式、什么界面 触发该功能</a:t>
            </a:r>
            <a:endParaRPr lang="en-US" altLang="zh-CN" i="1" dirty="0">
              <a:solidFill>
                <a:srgbClr val="0070C0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i="1" dirty="0">
                <a:solidFill>
                  <a:srgbClr val="0070C0"/>
                </a:solidFill>
              </a:rPr>
              <a:t>用户怎么输入、怎么输出</a:t>
            </a:r>
            <a:endParaRPr lang="en-US" altLang="zh-CN" i="1" dirty="0">
              <a:solidFill>
                <a:srgbClr val="0070C0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i="1" dirty="0">
                <a:solidFill>
                  <a:srgbClr val="0070C0"/>
                </a:solidFill>
              </a:rPr>
              <a:t>关键的用户路径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79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394ABE4E-FA56-938F-7201-06F20173CC05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附：赛题方向详细参考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36D495-78C3-E144-8420-FA3F31DF57CC}"/>
              </a:ext>
            </a:extLst>
          </p:cNvPr>
          <p:cNvSpPr txBox="1"/>
          <p:nvPr/>
        </p:nvSpPr>
        <p:spPr>
          <a:xfrm>
            <a:off x="194489" y="3552176"/>
            <a:ext cx="11731564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  <a:r>
              <a:rPr lang="zh-CN" altLang="en-US" sz="1200" b="1" dirty="0">
                <a:solidFill>
                  <a:schemeClr val="bg1"/>
                </a:solidFill>
              </a:rPr>
              <a:t>示意方向仅做场景参考，不限定大家的想象力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AFAF3FC-E9A1-FD4A-4B70-B2836CFB081F}"/>
              </a:ext>
            </a:extLst>
          </p:cNvPr>
          <p:cNvSpPr/>
          <p:nvPr/>
        </p:nvSpPr>
        <p:spPr>
          <a:xfrm>
            <a:off x="214312" y="1041654"/>
            <a:ext cx="1124712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28B795F-04AB-1D21-D2D1-B920742C2F8D}"/>
              </a:ext>
            </a:extLst>
          </p:cNvPr>
          <p:cNvSpPr/>
          <p:nvPr/>
        </p:nvSpPr>
        <p:spPr>
          <a:xfrm>
            <a:off x="21431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EC19D71-917D-25B6-2CA3-DA4AF745AECF}"/>
              </a:ext>
            </a:extLst>
          </p:cNvPr>
          <p:cNvSpPr/>
          <p:nvPr/>
        </p:nvSpPr>
        <p:spPr>
          <a:xfrm>
            <a:off x="37890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ACB0CE2-0339-A7BC-C8B8-A5086F21C944}"/>
              </a:ext>
            </a:extLst>
          </p:cNvPr>
          <p:cNvSpPr/>
          <p:nvPr/>
        </p:nvSpPr>
        <p:spPr>
          <a:xfrm>
            <a:off x="37890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办公赛道</a:t>
            </a:r>
            <a:endParaRPr lang="en-US" sz="22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DCD2892-1C0F-108C-7A9A-E1C1A19A8A4E}"/>
              </a:ext>
            </a:extLst>
          </p:cNvPr>
          <p:cNvSpPr/>
          <p:nvPr/>
        </p:nvSpPr>
        <p:spPr>
          <a:xfrm>
            <a:off x="37890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5157B4-F232-AA03-ADDC-8BA304B95A4F}"/>
              </a:ext>
            </a:extLst>
          </p:cNvPr>
          <p:cNvSpPr/>
          <p:nvPr/>
        </p:nvSpPr>
        <p:spPr>
          <a:xfrm>
            <a:off x="37890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E9CA185-9276-726D-E1E4-66DCE176F0E1}"/>
              </a:ext>
            </a:extLst>
          </p:cNvPr>
          <p:cNvSpPr/>
          <p:nvPr/>
        </p:nvSpPr>
        <p:spPr>
          <a:xfrm>
            <a:off x="37890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让智能体成为你的办公助手。围绕会议纪要、文档处理、流程自动化、数据报表、知识管理等场景，打造高效、精准、可靠的生产力工具</a:t>
            </a:r>
            <a:endParaRPr lang="en-US" sz="10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0E6ABFC-45E4-2EAC-317C-F19A42AFA16A}"/>
              </a:ext>
            </a:extLst>
          </p:cNvPr>
          <p:cNvSpPr/>
          <p:nvPr/>
        </p:nvSpPr>
        <p:spPr>
          <a:xfrm>
            <a:off x="32250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959B297-AAFD-75C3-D1EA-97AC9190A41A}"/>
              </a:ext>
            </a:extLst>
          </p:cNvPr>
          <p:cNvSpPr/>
          <p:nvPr/>
        </p:nvSpPr>
        <p:spPr>
          <a:xfrm>
            <a:off x="32250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E1082CB-04AA-7479-5937-7C62C22A5EDC}"/>
              </a:ext>
            </a:extLst>
          </p:cNvPr>
          <p:cNvSpPr/>
          <p:nvPr/>
        </p:nvSpPr>
        <p:spPr>
          <a:xfrm>
            <a:off x="45052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  ·  自动记录、提炼、分发会议要点</a:t>
            </a:r>
            <a:endParaRPr lang="en-US" sz="10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B4BBFB8-1E5E-B193-BD95-46B411E3C73E}"/>
              </a:ext>
            </a:extLst>
          </p:cNvPr>
          <p:cNvSpPr/>
          <p:nvPr/>
        </p:nvSpPr>
        <p:spPr>
          <a:xfrm>
            <a:off x="32250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F17EE76-E71F-2D9D-E32B-968574E9DB2F}"/>
              </a:ext>
            </a:extLst>
          </p:cNvPr>
          <p:cNvSpPr/>
          <p:nvPr/>
        </p:nvSpPr>
        <p:spPr>
          <a:xfrm>
            <a:off x="45052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文档处理  ·  智能起草、审阅、格式化文档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BB46B57-6AFB-47BD-DC62-82A5500F6A9D}"/>
              </a:ext>
            </a:extLst>
          </p:cNvPr>
          <p:cNvSpPr/>
          <p:nvPr/>
        </p:nvSpPr>
        <p:spPr>
          <a:xfrm>
            <a:off x="322506" y="51108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57C14CB-7094-D8A1-D8F7-7B9482F38CE8}"/>
              </a:ext>
            </a:extLst>
          </p:cNvPr>
          <p:cNvSpPr/>
          <p:nvPr/>
        </p:nvSpPr>
        <p:spPr>
          <a:xfrm>
            <a:off x="450522" y="50468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流程自动化  ·  审批、归档、通知自动执行</a:t>
            </a:r>
            <a:endParaRPr lang="en-US" sz="10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46A6A79-B67B-01D6-2082-CD1F6C560967}"/>
              </a:ext>
            </a:extLst>
          </p:cNvPr>
          <p:cNvSpPr/>
          <p:nvPr/>
        </p:nvSpPr>
        <p:spPr>
          <a:xfrm>
            <a:off x="322506" y="571729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FD42EED-69BA-B77A-4628-158C79B8F73E}"/>
              </a:ext>
            </a:extLst>
          </p:cNvPr>
          <p:cNvSpPr/>
          <p:nvPr/>
        </p:nvSpPr>
        <p:spPr>
          <a:xfrm>
            <a:off x="450522" y="565328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  ·  采集、分析、生成可视化报表</a:t>
            </a:r>
            <a:endParaRPr lang="en-US" sz="10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DC69E5D-E71C-367A-D0A8-3220CDF5444F}"/>
              </a:ext>
            </a:extLst>
          </p:cNvPr>
          <p:cNvSpPr/>
          <p:nvPr/>
        </p:nvSpPr>
        <p:spPr>
          <a:xfrm>
            <a:off x="322506" y="604647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42F65987-270B-20DC-0A6C-2CDD7D72E89C}"/>
              </a:ext>
            </a:extLst>
          </p:cNvPr>
          <p:cNvSpPr/>
          <p:nvPr/>
        </p:nvSpPr>
        <p:spPr>
          <a:xfrm>
            <a:off x="450522" y="598247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知识管理  ·  企业知识库构建与智能检索</a:t>
            </a:r>
            <a:endParaRPr lang="en-US" sz="10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8276BAD-5054-538A-0B7E-D7BA96C4DEEC}"/>
              </a:ext>
            </a:extLst>
          </p:cNvPr>
          <p:cNvSpPr/>
          <p:nvPr/>
        </p:nvSpPr>
        <p:spPr>
          <a:xfrm>
            <a:off x="322506" y="5428426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4BDB1C5-0149-4849-2910-713FE7EB3DE1}"/>
              </a:ext>
            </a:extLst>
          </p:cNvPr>
          <p:cNvSpPr/>
          <p:nvPr/>
        </p:nvSpPr>
        <p:spPr>
          <a:xfrm>
            <a:off x="450522" y="5364418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协同办公  ·  多人协作、任务分配、进度跟踪</a:t>
            </a:r>
            <a:endParaRPr lang="en-US" sz="10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31E3453-D82A-281D-A19E-0076BBFABCC3}"/>
              </a:ext>
            </a:extLst>
          </p:cNvPr>
          <p:cNvSpPr/>
          <p:nvPr/>
        </p:nvSpPr>
        <p:spPr>
          <a:xfrm>
            <a:off x="274415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E16F531E-09B5-5ED5-9ED0-173C3A68CBBF}"/>
              </a:ext>
            </a:extLst>
          </p:cNvPr>
          <p:cNvSpPr/>
          <p:nvPr/>
        </p:nvSpPr>
        <p:spPr>
          <a:xfrm>
            <a:off x="290874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9BAACC0-0449-1B4D-65AA-DB966E1E1FBD}"/>
              </a:ext>
            </a:extLst>
          </p:cNvPr>
          <p:cNvSpPr/>
          <p:nvPr/>
        </p:nvSpPr>
        <p:spPr>
          <a:xfrm>
            <a:off x="290874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Coding赛道</a:t>
            </a:r>
            <a:endParaRPr lang="en-US" sz="2200" dirty="0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F1D3FF21-C298-5005-C5BC-C9B331FFB5C9}"/>
              </a:ext>
            </a:extLst>
          </p:cNvPr>
          <p:cNvSpPr/>
          <p:nvPr/>
        </p:nvSpPr>
        <p:spPr>
          <a:xfrm>
            <a:off x="290874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14E09982-23C2-3AD4-5538-48F6A97B5ADB}"/>
              </a:ext>
            </a:extLst>
          </p:cNvPr>
          <p:cNvSpPr/>
          <p:nvPr/>
        </p:nvSpPr>
        <p:spPr>
          <a:xfrm>
            <a:off x="290874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6BA4984D-2D0F-C071-3B7E-1144BE1D7451}"/>
              </a:ext>
            </a:extLst>
          </p:cNvPr>
          <p:cNvSpPr/>
          <p:nvPr/>
        </p:nvSpPr>
        <p:spPr>
          <a:xfrm>
            <a:off x="290874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让智能体成为你的开发搭档。覆盖代码生成、审查、Bug修复、自动化测试、项目脚手架等全研发链路，提升开发效率与代码质量</a:t>
            </a:r>
            <a:endParaRPr lang="en-US" sz="105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0C372FCA-B86F-5B36-1C73-81BBD9471F5D}"/>
              </a:ext>
            </a:extLst>
          </p:cNvPr>
          <p:cNvSpPr/>
          <p:nvPr/>
        </p:nvSpPr>
        <p:spPr>
          <a:xfrm>
            <a:off x="285234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61220233-5F54-C563-7F47-9B9255926E28}"/>
              </a:ext>
            </a:extLst>
          </p:cNvPr>
          <p:cNvSpPr/>
          <p:nvPr/>
        </p:nvSpPr>
        <p:spPr>
          <a:xfrm>
            <a:off x="298036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  ·  根据需求自动生成代码片段</a:t>
            </a:r>
            <a:endParaRPr lang="en-US" sz="100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3ED0E3B4-0D7E-8AE8-772A-BCEB964205FB}"/>
              </a:ext>
            </a:extLst>
          </p:cNvPr>
          <p:cNvSpPr/>
          <p:nvPr/>
        </p:nvSpPr>
        <p:spPr>
          <a:xfrm>
            <a:off x="285234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602A63BE-E58B-76A3-004F-929816CDEC43}"/>
              </a:ext>
            </a:extLst>
          </p:cNvPr>
          <p:cNvSpPr/>
          <p:nvPr/>
        </p:nvSpPr>
        <p:spPr>
          <a:xfrm>
            <a:off x="298036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  ·  自动PR审查，识别潜在问题</a:t>
            </a:r>
            <a:endParaRPr lang="en-US" sz="1000" dirty="0"/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92EA6273-3DDF-DEA6-225F-8B4597856A8A}"/>
              </a:ext>
            </a:extLst>
          </p:cNvPr>
          <p:cNvSpPr/>
          <p:nvPr/>
        </p:nvSpPr>
        <p:spPr>
          <a:xfrm>
            <a:off x="285234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6FB0C60B-A2C5-F580-4871-7477E83E9027}"/>
              </a:ext>
            </a:extLst>
          </p:cNvPr>
          <p:cNvSpPr/>
          <p:nvPr/>
        </p:nvSpPr>
        <p:spPr>
          <a:xfrm>
            <a:off x="298036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Bug修复  ·  定位根因并生成修复方案</a:t>
            </a:r>
            <a:endParaRPr lang="en-US" sz="1000" dirty="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1D5930E8-C7D6-7940-3F5D-87054358A898}"/>
              </a:ext>
            </a:extLst>
          </p:cNvPr>
          <p:cNvSpPr/>
          <p:nvPr/>
        </p:nvSpPr>
        <p:spPr>
          <a:xfrm>
            <a:off x="285234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0B6D7BBD-6022-9EFF-0540-40E197B85712}"/>
              </a:ext>
            </a:extLst>
          </p:cNvPr>
          <p:cNvSpPr/>
          <p:nvPr/>
        </p:nvSpPr>
        <p:spPr>
          <a:xfrm>
            <a:off x="298036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  ·  生成测试用例并执行验证</a:t>
            </a:r>
            <a:endParaRPr lang="en-US" sz="1000" dirty="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9522FB2F-B1F8-8D76-A9CF-F9A174B6823B}"/>
              </a:ext>
            </a:extLst>
          </p:cNvPr>
          <p:cNvSpPr/>
          <p:nvPr/>
        </p:nvSpPr>
        <p:spPr>
          <a:xfrm>
            <a:off x="285234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F012E2A3-ACF7-E0E5-B860-CD4D0F1050E2}"/>
              </a:ext>
            </a:extLst>
          </p:cNvPr>
          <p:cNvSpPr/>
          <p:nvPr/>
        </p:nvSpPr>
        <p:spPr>
          <a:xfrm>
            <a:off x="298036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项目脚手架  ·  快速搭建项目结构与环境</a:t>
            </a:r>
            <a:endParaRPr lang="en-US" sz="1000" dirty="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E9620004-4BF1-DC6F-97F9-31EF94848DBA}"/>
              </a:ext>
            </a:extLst>
          </p:cNvPr>
          <p:cNvSpPr/>
          <p:nvPr/>
        </p:nvSpPr>
        <p:spPr>
          <a:xfrm>
            <a:off x="285234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25F44FE3-DB6D-41A2-F760-3773B9388940}"/>
              </a:ext>
            </a:extLst>
          </p:cNvPr>
          <p:cNvSpPr/>
          <p:nvPr/>
        </p:nvSpPr>
        <p:spPr>
          <a:xfrm>
            <a:off x="298036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代码重构  ·  智能优化代码结构与性能</a:t>
            </a:r>
            <a:endParaRPr lang="en-US" sz="1000" dirty="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527399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543858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5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543858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科研赛道</a:t>
            </a:r>
            <a:endParaRPr lang="en-US" sz="2200" dirty="0"/>
          </a:p>
        </p:txBody>
      </p:sp>
      <p:sp>
        <p:nvSpPr>
          <p:cNvPr id="46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543858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543858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48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543858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让智能体成为你的科研伙伴。从文献检索、实验设计到数据分析、论文写作，全方位辅助科研全流程，激发创新灵感</a:t>
            </a:r>
            <a:endParaRPr lang="en-US" sz="1050" dirty="0"/>
          </a:p>
        </p:txBody>
      </p:sp>
      <p:sp>
        <p:nvSpPr>
          <p:cNvPr id="49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538218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551020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  ·  智能搜索、筛选、综述文献</a:t>
            </a:r>
            <a:endParaRPr lang="en-US" sz="1000" dirty="0"/>
          </a:p>
        </p:txBody>
      </p:sp>
      <p:sp>
        <p:nvSpPr>
          <p:cNvPr id="51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538218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551020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  ·  辅助实验方案设计与优化</a:t>
            </a:r>
            <a:endParaRPr lang="en-US" sz="1000" dirty="0"/>
          </a:p>
        </p:txBody>
      </p:sp>
      <p:sp>
        <p:nvSpPr>
          <p:cNvPr id="5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538218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4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551020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  ·  自动清洗、统计与可视化</a:t>
            </a:r>
            <a:endParaRPr lang="en-US" sz="1000" dirty="0"/>
          </a:p>
        </p:txBody>
      </p:sp>
      <p:sp>
        <p:nvSpPr>
          <p:cNvPr id="55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538218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6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551020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科研写作  ·  辅助论文撰写与引用管理</a:t>
            </a:r>
            <a:endParaRPr lang="en-US" sz="1000" dirty="0"/>
          </a:p>
        </p:txBody>
      </p:sp>
      <p:sp>
        <p:nvSpPr>
          <p:cNvPr id="57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538218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8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551020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创新灵感  ·  跨领域知识关联与思路启发</a:t>
            </a:r>
            <a:endParaRPr lang="en-US" sz="1000" dirty="0"/>
          </a:p>
        </p:txBody>
      </p:sp>
      <p:sp>
        <p:nvSpPr>
          <p:cNvPr id="59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538218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0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551020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学术协作  ·  多人合著、版本管理、同行评审</a:t>
            </a:r>
            <a:endParaRPr lang="en-US" sz="10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51AE0735-2E65-394A-8E61-324C75F29C04}"/>
              </a:ext>
            </a:extLst>
          </p:cNvPr>
          <p:cNvSpPr/>
          <p:nvPr/>
        </p:nvSpPr>
        <p:spPr>
          <a:xfrm>
            <a:off x="285234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538218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A747C67-8B56-FADE-93D7-DE208FF23372}"/>
              </a:ext>
            </a:extLst>
          </p:cNvPr>
          <p:cNvSpPr/>
          <p:nvPr/>
        </p:nvSpPr>
        <p:spPr>
          <a:xfrm>
            <a:off x="194490" y="3891947"/>
            <a:ext cx="11731563" cy="2378889"/>
          </a:xfrm>
          <a:prstGeom prst="roundRect">
            <a:avLst>
              <a:gd name="adj" fmla="val 348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27F9A1A0-F925-F064-B99D-65A8AAD2DF13}"/>
              </a:ext>
            </a:extLst>
          </p:cNvPr>
          <p:cNvSpPr/>
          <p:nvPr/>
        </p:nvSpPr>
        <p:spPr>
          <a:xfrm>
            <a:off x="780383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5" name="Text 46">
            <a:extLst>
              <a:ext uri="{FF2B5EF4-FFF2-40B4-BE49-F238E27FC236}">
                <a16:creationId xmlns:a16="http://schemas.microsoft.com/office/drawing/2014/main" id="{24F2595A-3F11-1134-4812-72F4D8C49F83}"/>
              </a:ext>
            </a:extLst>
          </p:cNvPr>
          <p:cNvSpPr/>
          <p:nvPr/>
        </p:nvSpPr>
        <p:spPr>
          <a:xfrm>
            <a:off x="7968424" y="112395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A6EB5AF7-1745-ACE2-FB09-B2AEB0A9111B}"/>
              </a:ext>
            </a:extLst>
          </p:cNvPr>
          <p:cNvSpPr/>
          <p:nvPr/>
        </p:nvSpPr>
        <p:spPr>
          <a:xfrm>
            <a:off x="7968424" y="167259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设备互联赛道</a:t>
            </a:r>
            <a:endParaRPr lang="en-US" sz="2200" dirty="0"/>
          </a:p>
        </p:txBody>
      </p:sp>
      <p:sp>
        <p:nvSpPr>
          <p:cNvPr id="67" name="Shape 49">
            <a:extLst>
              <a:ext uri="{FF2B5EF4-FFF2-40B4-BE49-F238E27FC236}">
                <a16:creationId xmlns:a16="http://schemas.microsoft.com/office/drawing/2014/main" id="{21BC63AA-57FD-17C6-C716-C388FBA207AE}"/>
              </a:ext>
            </a:extLst>
          </p:cNvPr>
          <p:cNvSpPr/>
          <p:nvPr/>
        </p:nvSpPr>
        <p:spPr>
          <a:xfrm>
            <a:off x="796842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53E8D7E6-15A1-01C2-6427-F96EB264FFC2}"/>
              </a:ext>
            </a:extLst>
          </p:cNvPr>
          <p:cNvSpPr/>
          <p:nvPr/>
        </p:nvSpPr>
        <p:spPr>
          <a:xfrm>
            <a:off x="7968424" y="2266950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69" name="Text 51">
            <a:extLst>
              <a:ext uri="{FF2B5EF4-FFF2-40B4-BE49-F238E27FC236}">
                <a16:creationId xmlns:a16="http://schemas.microsoft.com/office/drawing/2014/main" id="{B524BDBA-1B74-5A51-FABC-C02C690C4303}"/>
              </a:ext>
            </a:extLst>
          </p:cNvPr>
          <p:cNvSpPr/>
          <p:nvPr/>
        </p:nvSpPr>
        <p:spPr>
          <a:xfrm>
            <a:off x="7968424" y="2541270"/>
            <a:ext cx="22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让智能体突破数字边界。跟硬件生态结合，实现人机/机机联动，将智能体的眼、手、脚实体化，打造虚实融合新体验</a:t>
            </a:r>
            <a:endParaRPr lang="en-US" sz="105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B51C97B7-FEB5-49EE-8494-8356AA85F7D4}"/>
              </a:ext>
            </a:extLst>
          </p:cNvPr>
          <p:cNvSpPr/>
          <p:nvPr/>
        </p:nvSpPr>
        <p:spPr>
          <a:xfrm>
            <a:off x="7912026" y="4012799"/>
            <a:ext cx="2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71" name="Shape 53">
            <a:extLst>
              <a:ext uri="{FF2B5EF4-FFF2-40B4-BE49-F238E27FC236}">
                <a16:creationId xmlns:a16="http://schemas.microsoft.com/office/drawing/2014/main" id="{05145E73-BE94-B9D6-51D1-DFEA8A7F2D72}"/>
              </a:ext>
            </a:extLst>
          </p:cNvPr>
          <p:cNvSpPr/>
          <p:nvPr/>
        </p:nvSpPr>
        <p:spPr>
          <a:xfrm>
            <a:off x="791202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2" name="Shape 55">
            <a:extLst>
              <a:ext uri="{FF2B5EF4-FFF2-40B4-BE49-F238E27FC236}">
                <a16:creationId xmlns:a16="http://schemas.microsoft.com/office/drawing/2014/main" id="{E160545A-E2E3-277C-CD36-F631CADBDF05}"/>
              </a:ext>
            </a:extLst>
          </p:cNvPr>
          <p:cNvSpPr/>
          <p:nvPr/>
        </p:nvSpPr>
        <p:spPr>
          <a:xfrm>
            <a:off x="791202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3" name="Shape 57">
            <a:extLst>
              <a:ext uri="{FF2B5EF4-FFF2-40B4-BE49-F238E27FC236}">
                <a16:creationId xmlns:a16="http://schemas.microsoft.com/office/drawing/2014/main" id="{6083921B-40E6-5C6D-FAE1-C91C9EBCEE28}"/>
              </a:ext>
            </a:extLst>
          </p:cNvPr>
          <p:cNvSpPr/>
          <p:nvPr/>
        </p:nvSpPr>
        <p:spPr>
          <a:xfrm>
            <a:off x="791202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6CAE021F-6550-FE44-948E-179AA03609AB}"/>
              </a:ext>
            </a:extLst>
          </p:cNvPr>
          <p:cNvSpPr/>
          <p:nvPr/>
        </p:nvSpPr>
        <p:spPr>
          <a:xfrm>
            <a:off x="791202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5" name="Shape 61">
            <a:extLst>
              <a:ext uri="{FF2B5EF4-FFF2-40B4-BE49-F238E27FC236}">
                <a16:creationId xmlns:a16="http://schemas.microsoft.com/office/drawing/2014/main" id="{7FD8F05A-B1DF-D9E1-CB5C-B78B8BFA8B17}"/>
              </a:ext>
            </a:extLst>
          </p:cNvPr>
          <p:cNvSpPr/>
          <p:nvPr/>
        </p:nvSpPr>
        <p:spPr>
          <a:xfrm>
            <a:off x="791202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F38F6B60-A471-9DD4-DD1E-5F9D06B4A422}"/>
              </a:ext>
            </a:extLst>
          </p:cNvPr>
          <p:cNvSpPr/>
          <p:nvPr/>
        </p:nvSpPr>
        <p:spPr>
          <a:xfrm>
            <a:off x="791202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7B078B36-895C-D098-6A81-57FEF261C137}"/>
              </a:ext>
            </a:extLst>
          </p:cNvPr>
          <p:cNvSpPr/>
          <p:nvPr/>
        </p:nvSpPr>
        <p:spPr>
          <a:xfrm>
            <a:off x="8040042" y="437736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人机联动  ·  语音、手势、眼动多模态交互</a:t>
            </a:r>
            <a:endParaRPr lang="en-US" sz="1000" dirty="0"/>
          </a:p>
        </p:txBody>
      </p:sp>
      <p:sp>
        <p:nvSpPr>
          <p:cNvPr id="78" name="Text 56">
            <a:extLst>
              <a:ext uri="{FF2B5EF4-FFF2-40B4-BE49-F238E27FC236}">
                <a16:creationId xmlns:a16="http://schemas.microsoft.com/office/drawing/2014/main" id="{4346C1F3-C2AF-8627-4AC9-F45489FD7008}"/>
              </a:ext>
            </a:extLst>
          </p:cNvPr>
          <p:cNvSpPr/>
          <p:nvPr/>
        </p:nvSpPr>
        <p:spPr>
          <a:xfrm>
            <a:off x="8040042" y="4706553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机机联动  ·  跨设备协同、任务自动流转</a:t>
            </a:r>
            <a:endParaRPr lang="en-US" sz="1000" dirty="0"/>
          </a:p>
        </p:txBody>
      </p:sp>
      <p:sp>
        <p:nvSpPr>
          <p:cNvPr id="79" name="Text 58">
            <a:extLst>
              <a:ext uri="{FF2B5EF4-FFF2-40B4-BE49-F238E27FC236}">
                <a16:creationId xmlns:a16="http://schemas.microsoft.com/office/drawing/2014/main" id="{B144EAB7-2128-AF8A-14E6-24EEBF3CD1AE}"/>
              </a:ext>
            </a:extLst>
          </p:cNvPr>
          <p:cNvSpPr/>
          <p:nvPr/>
        </p:nvSpPr>
        <p:spPr>
          <a:xfrm>
            <a:off x="8040042" y="5035737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智能体眼  ·  摄像头/传感器感知环境</a:t>
            </a:r>
            <a:endParaRPr lang="en-US" sz="1000" dirty="0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2395483D-D977-46F1-572F-A050A6B13035}"/>
              </a:ext>
            </a:extLst>
          </p:cNvPr>
          <p:cNvSpPr/>
          <p:nvPr/>
        </p:nvSpPr>
        <p:spPr>
          <a:xfrm>
            <a:off x="8040042" y="5364921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智能体手  ·  机械臂/机器人执行物理操作</a:t>
            </a:r>
            <a:endParaRPr lang="en-US" sz="1000" dirty="0"/>
          </a:p>
        </p:txBody>
      </p:sp>
      <p:sp>
        <p:nvSpPr>
          <p:cNvPr id="81" name="Text 62">
            <a:extLst>
              <a:ext uri="{FF2B5EF4-FFF2-40B4-BE49-F238E27FC236}">
                <a16:creationId xmlns:a16="http://schemas.microsoft.com/office/drawing/2014/main" id="{5F9D3BF5-366C-7034-0A0A-75432316252B}"/>
              </a:ext>
            </a:extLst>
          </p:cNvPr>
          <p:cNvSpPr/>
          <p:nvPr/>
        </p:nvSpPr>
        <p:spPr>
          <a:xfrm>
            <a:off x="8040042" y="5694105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智能体脚  ·  移动平台实现空间自主移动</a:t>
            </a:r>
            <a:endParaRPr lang="en-US" sz="1000" dirty="0"/>
          </a:p>
        </p:txBody>
      </p:sp>
      <p:sp>
        <p:nvSpPr>
          <p:cNvPr id="82" name="Text 64">
            <a:extLst>
              <a:ext uri="{FF2B5EF4-FFF2-40B4-BE49-F238E27FC236}">
                <a16:creationId xmlns:a16="http://schemas.microsoft.com/office/drawing/2014/main" id="{D4A24E9D-2A83-24DE-1825-0327729F579C}"/>
              </a:ext>
            </a:extLst>
          </p:cNvPr>
          <p:cNvSpPr/>
          <p:nvPr/>
        </p:nvSpPr>
        <p:spPr>
          <a:xfrm>
            <a:off x="8040042" y="6023289"/>
            <a:ext cx="2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虚实融合  ·  数字孪生、AR/VR联动体验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481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BE5DFA-6732-0FBC-D1EC-464120CBDE7B}"/>
              </a:ext>
            </a:extLst>
          </p:cNvPr>
          <p:cNvGraphicFramePr>
            <a:graphicFrameLocks noGrp="1"/>
          </p:cNvGraphicFramePr>
          <p:nvPr/>
        </p:nvGraphicFramePr>
        <p:xfrm>
          <a:off x="380999" y="1194587"/>
          <a:ext cx="11223171" cy="4468826"/>
        </p:xfrm>
        <a:graphic>
          <a:graphicData uri="http://schemas.openxmlformats.org/drawingml/2006/table">
            <a:tbl>
              <a:tblPr/>
              <a:tblGrid>
                <a:gridCol w="3741057">
                  <a:extLst>
                    <a:ext uri="{9D8B030D-6E8A-4147-A177-3AD203B41FA5}">
                      <a16:colId xmlns:a16="http://schemas.microsoft.com/office/drawing/2014/main" val="1690280833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3684386755"/>
                    </a:ext>
                  </a:extLst>
                </a:gridCol>
                <a:gridCol w="3741057">
                  <a:extLst>
                    <a:ext uri="{9D8B030D-6E8A-4147-A177-3AD203B41FA5}">
                      <a16:colId xmlns:a16="http://schemas.microsoft.com/office/drawing/2014/main" val="929551258"/>
                    </a:ext>
                  </a:extLst>
                </a:gridCol>
              </a:tblGrid>
              <a:tr h="3734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分数定位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37209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所有团队都必须制作真正的原型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：重大问题或项目未运行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7003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：小错误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6431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：可运行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7913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：完美执行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1689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：卓越且安全的架构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575128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创新与创造力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（创造性）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致力于寻求</a:t>
                      </a:r>
                      <a:r>
                        <a:rPr lang="en-US" altLang="zh-C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智能体界限的突破性想法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：非原创的想法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03025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：以前尝试过的想法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87855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：有些新意的想法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98022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：新颖的概念或创造性的解决方案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91707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：具有出色实施效果的突破性想法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08223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对现实世界的影响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（价值性）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有可能对用户或垂直领域产生重大影响的工作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：实际用途有限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7624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：具有未来潜力，但当前没有影响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87568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：对当前有一定的影响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297662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：解决了重大需求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66701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：具有改变生活的潜力，以创新方式解决关键问题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35955"/>
                  </a:ext>
                </a:extLst>
              </a:tr>
              <a:tr h="1951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主题一致性</a:t>
                      </a:r>
                      <a:b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（相关性）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与本次主题相一致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：与主题几乎不相关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669339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：与主题有表面上的联系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80510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：和主题一致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41106"/>
                  </a:ext>
                </a:extLst>
              </a:tr>
              <a:tr h="1951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：清晰而有意义地体现了主题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234"/>
                  </a:ext>
                </a:extLst>
              </a:tr>
              <a:tr h="3876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：完美的体现和提升了主题，展示了先进的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能力在现实场景中的创新应用</a:t>
                      </a:r>
                    </a:p>
                  </a:txBody>
                  <a:tcPr marL="3493" marR="3493" marT="34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94854"/>
                  </a:ext>
                </a:extLst>
              </a:tr>
            </a:tbl>
          </a:graphicData>
        </a:graphic>
      </p:graphicFrame>
      <p:sp>
        <p:nvSpPr>
          <p:cNvPr id="2" name="Text 3">
            <a:extLst>
              <a:ext uri="{FF2B5EF4-FFF2-40B4-BE49-F238E27FC236}">
                <a16:creationId xmlns:a16="http://schemas.microsoft.com/office/drawing/2014/main" id="{65051B87-7043-7750-3C72-244580A55713}"/>
              </a:ext>
            </a:extLst>
          </p:cNvPr>
          <p:cNvSpPr/>
          <p:nvPr/>
        </p:nvSpPr>
        <p:spPr>
          <a:xfrm>
            <a:off x="127000" y="191919"/>
            <a:ext cx="12069763" cy="4360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1187323">
              <a:lnSpc>
                <a:spcPts val="3429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附：评分标准</a:t>
            </a:r>
            <a:endParaRPr 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639</Words>
  <Application>Microsoft Office PowerPoint</Application>
  <PresentationFormat>宽屏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微软雅黑</vt:lpstr>
      <vt:lpstr>微软雅黑</vt:lpstr>
      <vt:lpstr>Arial</vt:lpstr>
      <vt:lpstr>Calibri</vt:lpstr>
      <vt:lpstr>Calibri Light</vt:lpstr>
      <vt:lpstr>Georgia</vt:lpstr>
      <vt:lpstr>Office 主题​​</vt:lpstr>
      <vt:lpstr>6_章节页</vt:lpstr>
      <vt:lpstr>End page</vt:lpstr>
      <vt:lpstr>openJiuwen 创意大赛提交模板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zhongzhiyin</cp:lastModifiedBy>
  <cp:revision>3</cp:revision>
  <dcterms:created xsi:type="dcterms:W3CDTF">2026-04-09T09:34:01Z</dcterms:created>
  <dcterms:modified xsi:type="dcterms:W3CDTF">2026-09-09T08:08:05Z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