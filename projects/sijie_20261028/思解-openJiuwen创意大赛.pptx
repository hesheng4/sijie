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5" r:id="rId4"/>
  </p:sldMasterIdLst>
  <p:notesMasterIdLst>
    <p:notesMasterId r:id="rId1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0EBEBA-E528-4FAE-BE33-4BA9ECD0BE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6F69A5-864A-4B9A-828B-07E61DB48DC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7" b="11081"/>
          <a:stretch>
            <a:fillRect/>
          </a:stretch>
        </p:blipFill>
        <p:spPr>
          <a:xfrm>
            <a:off x="0" y="731519"/>
            <a:ext cx="12192000" cy="536658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66700" y="2396357"/>
            <a:ext cx="6629400" cy="1674857"/>
          </a:xfrm>
          <a:prstGeom prst="rect">
            <a:avLst/>
          </a:prstGeom>
        </p:spPr>
        <p:txBody>
          <a:bodyPr anchor="ctr"/>
          <a:lstStyle>
            <a:lvl1pPr algn="l"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66700" y="4761189"/>
            <a:ext cx="4488180" cy="79931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217" y="1843091"/>
            <a:ext cx="10118107" cy="3013725"/>
          </a:xfrm>
          <a:prstGeom prst="rect">
            <a:avLst/>
          </a:prstGeom>
        </p:spPr>
        <p:txBody>
          <a:bodyPr tIns="90000" bIns="90000"/>
          <a:lstStyle>
            <a:lvl1pPr marL="412750" indent="-398780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516" y="1349255"/>
            <a:ext cx="885621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559" y="630376"/>
            <a:ext cx="1147037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  <a:endParaRPr kumimoji="1" lang="zh-CN" altLang="en-US" sz="3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="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180" indent="0" algn="ctr">
              <a:buNone/>
              <a:defRPr sz="2335"/>
            </a:lvl3pPr>
            <a:lvl4pPr marL="1779270" indent="0" algn="ctr">
              <a:buNone/>
              <a:defRPr sz="2080"/>
            </a:lvl4pPr>
            <a:lvl5pPr marL="2372995" indent="0" algn="ctr">
              <a:buNone/>
              <a:defRPr sz="2080"/>
            </a:lvl5pPr>
            <a:lvl6pPr marL="2966085" indent="0" algn="ctr">
              <a:buNone/>
              <a:defRPr sz="2080"/>
            </a:lvl6pPr>
            <a:lvl7pPr marL="3559175" indent="0" algn="ctr">
              <a:buNone/>
              <a:defRPr sz="2080"/>
            </a:lvl7pPr>
            <a:lvl8pPr marL="4151630" indent="0" algn="ctr">
              <a:buNone/>
              <a:defRPr sz="2080"/>
            </a:lvl8pPr>
            <a:lvl9pPr marL="474535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2" y="1501993"/>
            <a:ext cx="10729364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586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0815">
              <a:buFont typeface="Arial" panose="020B0604020202020204" pitchFamily="34" charset="0"/>
              <a:buChar char="•"/>
              <a:tabLst>
                <a:tab pos="1205865" algn="ctr"/>
              </a:tabLst>
              <a:defRPr sz="1300" baseline="0"/>
            </a:lvl2pPr>
            <a:lvl3pPr marL="525780" indent="-170815">
              <a:buFont typeface="Arial" panose="020B0604020202020204" pitchFamily="34" charset="0"/>
              <a:buChar char="•"/>
              <a:tabLst>
                <a:tab pos="1205865" algn="ctr"/>
              </a:tabLst>
              <a:defRPr sz="1300" baseline="0"/>
            </a:lvl3pPr>
            <a:lvl4pPr marL="525780" indent="-170815">
              <a:buFont typeface="Arial" panose="020B0604020202020204" pitchFamily="34" charset="0"/>
              <a:buChar char="•"/>
              <a:tabLst>
                <a:tab pos="1205865" algn="ctr"/>
              </a:tabLst>
              <a:defRPr sz="1300" baseline="0"/>
            </a:lvl4pPr>
            <a:lvl5pPr marL="525780" indent="-170815">
              <a:buFont typeface="Arial" panose="020B0604020202020204" pitchFamily="34" charset="0"/>
              <a:buChar char="•"/>
              <a:tabLst>
                <a:tab pos="120586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08460" y="284781"/>
            <a:ext cx="10736446" cy="37599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="1" baseline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7450" indent="0" algn="ctr">
              <a:buNone/>
              <a:defRPr sz="2335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8625" indent="0" algn="ctr">
              <a:buNone/>
              <a:defRPr sz="2080"/>
            </a:lvl6pPr>
            <a:lvl7pPr marL="3561715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19447-A5E6-4AF1-B91C-E41E669677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AE1A8-FC57-4C57-A899-A7388D8BB8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56906" y="2856476"/>
            <a:ext cx="3919502" cy="830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65" fontAlgn="auto">
              <a:spcBef>
                <a:spcPts val="0"/>
              </a:spcBef>
              <a:spcAft>
                <a:spcPts val="0"/>
              </a:spcAft>
            </a:pPr>
            <a:r>
              <a:rPr lang="en-US" sz="4800" b="1" dirty="0">
                <a:solidFill>
                  <a:srgbClr val="175CFE"/>
                </a:solidFill>
                <a:latin typeface="Arial" panose="020B0604020202020204"/>
                <a:ea typeface="+mn-ea"/>
              </a:rPr>
              <a:t>Thank you.</a:t>
            </a:r>
            <a:endParaRPr lang="en-US" sz="4800" b="1" dirty="0">
              <a:solidFill>
                <a:srgbClr val="175CFE"/>
              </a:solidFill>
              <a:latin typeface="Arial" panose="020B0604020202020204"/>
              <a:ea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eg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733845" y="6526023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  <a:endParaRPr kumimoji="1" lang="zh-CN" altLang="en-US" sz="800" b="0" i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  <a:endParaRPr kumimoji="1" lang="zh-CN" altLang="en-US" sz="800" b="0" i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9" name="图片 4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33" y="6477212"/>
            <a:ext cx="252000" cy="252000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216" y="6483431"/>
            <a:ext cx="888325" cy="19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</p:sldLayoutIdLst>
  <p:hf hdr="0" ftr="0" dt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681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336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7085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081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57625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1350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5075" indent="-29718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426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1080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4170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47895" algn="l" defTabSz="118681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6662"/>
            <a:ext cx="12192000" cy="208467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2479" y="2386662"/>
            <a:ext cx="3982676" cy="20846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hf sldNum="0" hdr="0" ftr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681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3725" indent="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indent="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indent="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3630" indent="0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762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071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444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363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108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417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789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ctrTitle"/>
          </p:nvPr>
        </p:nvSpPr>
        <p:spPr>
          <a:xfrm>
            <a:off x="266700" y="2396395"/>
            <a:ext cx="6629400" cy="1674876"/>
          </a:xfrm>
          <a:prstGeom prst="rect">
            <a:avLst/>
          </a:prstGeom>
          <a:noFill/>
          <a:ln>
            <a:noFill/>
          </a:ln>
        </p:spPr>
        <p:txBody>
          <a:bodyPr wrap="none" lIns="91440" tIns="567135" rIns="0" bIns="0" anchor="t" anchorCtr="0">
            <a:noAutofit/>
          </a:bodyPr>
          <a:lstStyle/>
          <a:p>
            <a:pPr algn="l"/>
            <a:r>
              <a:rPr lang="zh-CN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思解</a:t>
            </a:r>
            <a:r>
              <a:rPr 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SIJIE</a:t>
            </a:r>
            <a:endParaRPr lang="en-US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8" name="p01-subtitle"/>
          <p:cNvGrpSpPr/>
          <p:nvPr/>
        </p:nvGrpSpPr>
        <p:grpSpPr>
          <a:xfrm>
            <a:off x="265176" y="4776470"/>
            <a:ext cx="5143271" cy="704850"/>
            <a:chOff x="343281" y="4622800"/>
            <a:chExt cx="5143271" cy="704850"/>
          </a:xfrm>
        </p:grpSpPr>
        <p:sp>
          <p:nvSpPr>
            <p:cNvPr id="6" name="TextBox 6"/>
            <p:cNvSpPr txBox="1"/>
            <p:nvPr/>
          </p:nvSpPr>
          <p:spPr>
            <a:xfrm>
              <a:off x="343281" y="4622800"/>
              <a:ext cx="51432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让每一句结论都能被验证 · 可拒绝的科研证据链</a:t>
              </a:r>
              <a:endParaRPr lang="zh-CN" sz="18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46329" y="5143500"/>
              <a:ext cx="271716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openJiuwen 智能体创意大赛 · 科研赛道</a:t>
              </a:r>
              <a:endParaRPr lang="zh-CN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1"/>
          <p:cNvSpPr/>
          <p:nvPr/>
        </p:nvSpPr>
        <p:spPr>
          <a:xfrm>
            <a:off x="345376" y="249174"/>
            <a:ext cx="10736485" cy="375952"/>
          </a:xfrm>
          <a:prstGeom prst="rect">
            <a:avLst/>
          </a:prstGeom>
          <a:noFill/>
          <a:ln>
            <a:noFill/>
          </a:ln>
        </p:spPr>
        <p:txBody>
          <a:bodyPr wrap="none" lIns="0" tIns="-50788" rIns="0" bIns="0" anchor="t" anchorCtr="0">
            <a:noAutofit/>
          </a:bodyPr>
          <a:lstStyle/>
          <a:p>
            <a:pPr algn="l"/>
            <a:r>
              <a:rPr lang="zh-CN" sz="3200" b="1" dirty="0">
                <a:solidFill>
                  <a:srgbClr val="C00000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思解 · 可被验证的科研论文生成系统</a:t>
            </a:r>
            <a:endParaRPr lang="zh-CN" sz="3200" b="1" dirty="0">
              <a:solidFill>
                <a:srgbClr val="C00000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18732" y="1053846"/>
            <a:ext cx="4138517" cy="369380"/>
          </a:xfrm>
          <a:prstGeom prst="rect">
            <a:avLst/>
          </a:prstGeom>
          <a:noFill/>
          <a:ln>
            <a:noFill/>
          </a:ln>
        </p:spPr>
        <p:txBody>
          <a:bodyPr wrap="none" lIns="91440" tIns="45758" rIns="0" bIns="0" anchor="t" anchorCtr="0">
            <a:noAutofit/>
          </a:bodyPr>
          <a:lstStyle/>
          <a:p>
            <a:pPr indent="0" algn="ctr" fontAlgn="auto"/>
            <a:r>
              <a:rPr lang="zh-CN" sz="1800" dirty="0">
                <a:solidFill>
                  <a:srgbClr val="000000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 创意描述</a:t>
            </a:r>
            <a:endParaRPr lang="zh-CN" sz="1800" b="1" dirty="0">
              <a:solidFill>
                <a:srgbClr val="C00000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18160" y="5077460"/>
            <a:ext cx="441769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ctr" fontAlgn="auto"/>
            <a:r>
              <a:rPr lang="zh-CN" dirty="0">
                <a:solidFill>
                  <a:srgbClr val="000000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所属主题</a:t>
            </a:r>
            <a:endParaRPr lang="zh-CN" dirty="0">
              <a:solidFill>
                <a:srgbClr val="000000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118384" y="1053884"/>
            <a:ext cx="4138552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dirty="0">
                <a:solidFill>
                  <a:srgbClr val="000000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应用场景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88900" y="889348"/>
            <a:ext cx="11950700" cy="5436296"/>
          </a:xfrm>
          <a:prstGeom prst="roundRect">
            <a:avLst>
              <a:gd name="adj" fmla="val 8257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88900" y="4998070"/>
            <a:ext cx="5795375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811864" y="889348"/>
            <a:ext cx="0" cy="5436296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2371439" y="2446210"/>
            <a:ext cx="990981" cy="369380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矩形 22"/>
          <p:cNvSpPr/>
          <p:nvPr/>
        </p:nvSpPr>
        <p:spPr>
          <a:xfrm>
            <a:off x="922115" y="5574887"/>
            <a:ext cx="4455795" cy="458438"/>
          </a:xfrm>
          <a:prstGeom prst="rect">
            <a:avLst/>
          </a:prstGeom>
          <a:noFill/>
          <a:ln>
            <a:noFill/>
          </a:ln>
        </p:spPr>
        <p:txBody>
          <a:bodyPr wrap="none" lIns="91440" tIns="134619" rIns="0" bIns="0" anchor="t" anchorCtr="0">
            <a:noAutofit/>
          </a:bodyPr>
          <a:lstStyle/>
          <a:p>
            <a:pPr algn="l"/>
            <a:r>
              <a:rPr lang="zh-CN" sz="1800" i="1" dirty="0">
                <a:solidFill>
                  <a:srgbClr val="0070C0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科研赛道（科研</a:t>
            </a:r>
            <a:r>
              <a:rPr lang="zh-CN" sz="1800" i="1" dirty="0">
                <a:solidFill>
                  <a:srgbClr val="0070C0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写作）</a:t>
            </a:r>
            <a:endParaRPr lang="zh-CN" sz="1800" i="1" dirty="0">
              <a:solidFill>
                <a:srgbClr val="0070C0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579013" y="3105817"/>
            <a:ext cx="4967192" cy="1289494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36" name="p02-desc"/>
          <p:cNvGrpSpPr/>
          <p:nvPr/>
        </p:nvGrpSpPr>
        <p:grpSpPr>
          <a:xfrm>
            <a:off x="604076" y="1739900"/>
            <a:ext cx="3971729" cy="3135440"/>
            <a:chOff x="604076" y="1739900"/>
            <a:chExt cx="3971729" cy="3135440"/>
          </a:xfrm>
        </p:grpSpPr>
        <p:sp>
          <p:nvSpPr>
            <p:cNvPr id="18" name="TextBox 18"/>
            <p:cNvSpPr txBox="1"/>
            <p:nvPr/>
          </p:nvSpPr>
          <p:spPr>
            <a:xfrm>
              <a:off x="604076" y="1739900"/>
              <a:ext cx="3385972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「思解」把论文写作从「生成文字」升级为「生成可</a:t>
              </a:r>
              <a:endParaRPr lang="zh-CN" sz="109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4076" y="1964690"/>
              <a:ext cx="3636669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核验的证据链」。每条结论以声明卡（ClaimCard）为最</a:t>
              </a:r>
              <a:endParaRPr lang="zh-CN" sz="109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4076" y="2189480"/>
              <a:ext cx="3679444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小单位，必须绑定计算脚本哈希、产物哈希、数据条目、</a:t>
              </a:r>
              <a:endParaRPr lang="zh-CN" sz="109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4076" y="2414270"/>
              <a:ext cx="3855527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文献快照与定位符；经八步校验链（schema、execution、</a:t>
              </a:r>
              <a:endParaRPr lang="zh-CN" sz="109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4076" y="2639060"/>
              <a:ext cx="3474014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context、binding、values、citation、deviation、</a:t>
              </a:r>
              <a:endParaRPr lang="zh-CN" sz="109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4076" y="2863850"/>
              <a:ext cx="3576729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row_conflict）与六道 rail（引用、溯源、推理边界、</a:t>
              </a:r>
              <a:endParaRPr lang="zh-CN" sz="109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4076" y="3088640"/>
              <a:ext cx="3688304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合规、预算、HITL）逐项判定，任一环不成立即拒绝落账</a:t>
              </a:r>
              <a:endParaRPr lang="zh-CN" sz="109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4076" y="3313430"/>
              <a:ext cx="3540045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并返回冻结错误码。落账走唯一写入口 ledger-mcp 的</a:t>
              </a:r>
              <a:endParaRPr lang="zh-CN" sz="109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4076" y="3538220"/>
              <a:ext cx="3826872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append-only 账本：rawlog、artifacts、账本三写，WAL</a:t>
              </a:r>
              <a:endParaRPr lang="zh-CN" sz="109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4076" y="3763010"/>
              <a:ext cx="3906884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先行、row_id 幂等，支持双源对账、崩溃恢复与篡改检测。</a:t>
              </a:r>
              <a:endParaRPr lang="zh-CN" sz="109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4076" y="3987800"/>
              <a:ext cx="3886023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编排层基于 openJiuwen 与 WorkSwarm：11 个角色协作，</a:t>
              </a:r>
              <a:endParaRPr lang="zh-CN" sz="109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4076" y="4212590"/>
              <a:ext cx="3583288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六道门以 DeepAgentRail 扩展接入执行点，审计链复用</a:t>
              </a:r>
              <a:endParaRPr lang="zh-CN" sz="109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4076" y="4437380"/>
              <a:ext cx="3971729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EvidenceWriter。目标不是让 AI 写得更好看，而是让导师、</a:t>
              </a:r>
              <a:endParaRPr lang="zh-CN" sz="109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4076" y="4662170"/>
              <a:ext cx="3826180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审稿人与作者都能机器核验每一句结论的出处与计算过程。</a:t>
              </a:r>
              <a:endParaRPr lang="zh-CN" sz="109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48" name="p02-scene"/>
          <p:cNvGrpSpPr/>
          <p:nvPr/>
        </p:nvGrpSpPr>
        <p:grpSpPr>
          <a:xfrm>
            <a:off x="6776276" y="1739900"/>
            <a:ext cx="3637638" cy="2546795"/>
            <a:chOff x="6776276" y="1739900"/>
            <a:chExt cx="3637638" cy="2546795"/>
          </a:xfrm>
        </p:grpSpPr>
        <p:sp>
          <p:nvSpPr>
            <p:cNvPr id="37" name="TextBox 37"/>
            <p:cNvSpPr txBox="1"/>
            <p:nvPr/>
          </p:nvSpPr>
          <p:spPr>
            <a:xfrm>
              <a:off x="6776276" y="1739900"/>
              <a:ext cx="2358822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面向科研团队、期刊编辑与审稿人。</a:t>
              </a:r>
              <a:endParaRPr lang="zh-CN" sz="109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76276" y="1973262"/>
              <a:ext cx="3210166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7475" indent="-117475" algn="l">
                <a:buClr>
                  <a:srgbClr val="1D1D1B"/>
                </a:buClr>
                <a:buSzTx/>
                <a:buFontTx/>
                <a:buChar char="•"/>
              </a:pPr>
              <a:r>
                <a:rPr lang="zh-CN" sz="109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从数据到论文：图表、统计与结论同源同哈希，</a:t>
              </a:r>
              <a:endParaRPr lang="zh-CN" sz="109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76276" y="2206625"/>
              <a:ext cx="2446863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改一个数字即可定位要重跑哪一步。</a:t>
              </a:r>
              <a:endParaRPr lang="zh-CN" sz="109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76276" y="2439988"/>
              <a:ext cx="3637638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7475" indent="-117475" algn="l">
                <a:buClr>
                  <a:srgbClr val="1D1D1B"/>
                </a:buClr>
                <a:buSzTx/>
                <a:buFontTx/>
                <a:buChar char="•"/>
              </a:pPr>
              <a:r>
                <a:rPr lang="zh-CN" sz="109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投稿前自检：引用是否在 MANIFEST、是否一手来源、</a:t>
              </a:r>
              <a:endParaRPr lang="zh-CN" sz="109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76276" y="2673350"/>
              <a:ext cx="2593599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快照是否留存，逐条给出可核对结果。</a:t>
              </a:r>
              <a:endParaRPr lang="zh-CN" sz="109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76276" y="2906712"/>
              <a:ext cx="3210166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17475" indent="-117475" algn="l">
                <a:buClr>
                  <a:srgbClr val="1D1D1B"/>
                </a:buClr>
                <a:buSzTx/>
                <a:buFontTx/>
                <a:buChar char="•"/>
              </a:pPr>
              <a:r>
                <a:rPr lang="zh-CN" sz="109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审稿回应：把「我认为」换成「这是证据链」，</a:t>
              </a:r>
              <a:endParaRPr lang="zh-CN" sz="109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76276" y="3140075"/>
              <a:ext cx="1713184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审稿意见可被机器复核。</a:t>
              </a:r>
              <a:endParaRPr lang="zh-CN" sz="109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76276" y="3373438"/>
              <a:ext cx="3425840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痛点：LLM 写作不可验证、引用与数字对不上、复现</a:t>
              </a:r>
              <a:endParaRPr lang="zh-CN" sz="109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76276" y="3606800"/>
              <a:ext cx="1625143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成本高、责任不可追溯。</a:t>
              </a:r>
              <a:endParaRPr lang="zh-CN" sz="109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76276" y="3840162"/>
              <a:ext cx="3385972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影响：论文从「看起来对」变成「可被验证」；科研</a:t>
              </a:r>
              <a:endParaRPr lang="zh-CN" sz="109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76276" y="4073525"/>
              <a:ext cx="2652293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协作从「信任个人」转为「信任证据」。</a:t>
              </a:r>
              <a:endParaRPr lang="zh-CN" sz="109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1"/>
          <p:cNvSpPr txBox="1"/>
          <p:nvPr/>
        </p:nvSpPr>
        <p:spPr>
          <a:xfrm>
            <a:off x="345362" y="249186"/>
            <a:ext cx="10736446" cy="37599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1" kern="1200" baseline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86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创意方案构想</a:t>
            </a:r>
            <a:endParaRPr lang="zh-CN" altLang="en-US" dirty="0"/>
          </a:p>
        </p:txBody>
      </p:sp>
      <p:cxnSp>
        <p:nvCxnSpPr>
          <p:cNvPr id="4" name="直接连接符 3"/>
          <p:cNvCxnSpPr>
            <a:stCxn id="6" idx="1"/>
            <a:endCxn id="6" idx="3"/>
          </p:cNvCxnSpPr>
          <p:nvPr/>
        </p:nvCxnSpPr>
        <p:spPr>
          <a:xfrm>
            <a:off x="88900" y="3607496"/>
            <a:ext cx="119507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5795376" y="3623415"/>
            <a:ext cx="0" cy="273928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/>
          <p:cNvSpPr/>
          <p:nvPr/>
        </p:nvSpPr>
        <p:spPr>
          <a:xfrm>
            <a:off x="88900" y="889348"/>
            <a:ext cx="11950700" cy="5436296"/>
          </a:xfrm>
          <a:prstGeom prst="roundRect">
            <a:avLst>
              <a:gd name="adj" fmla="val 8257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/>
          <p:nvPr/>
        </p:nvSpPr>
        <p:spPr>
          <a:xfrm>
            <a:off x="415671" y="3763423"/>
            <a:ext cx="1901285" cy="342900"/>
          </a:xfrm>
          <a:prstGeom prst="rect">
            <a:avLst/>
          </a:prstGeom>
          <a:noFill/>
          <a:ln>
            <a:noFill/>
          </a:ln>
        </p:spPr>
        <p:txBody>
          <a:bodyPr wrap="none" lIns="95" tIns="34279" rIns="0" bIns="0" anchor="t" anchorCtr="0">
            <a:noAutofit/>
          </a:bodyPr>
          <a:lstStyle/>
          <a:p>
            <a:pPr algn="ctr"/>
            <a:r>
              <a:rPr 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方案优势</a:t>
            </a:r>
            <a:r>
              <a:rPr 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（差异）</a:t>
            </a:r>
            <a:endParaRPr lang="zh-CN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0624" y="1023604"/>
            <a:ext cx="2414076" cy="3429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indent="0" algn="l" fontAlgn="auto"/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方案详情</a:t>
            </a:r>
            <a:endParaRPr kumimoji="1"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/>
          <p:nvPr/>
        </p:nvSpPr>
        <p:spPr>
          <a:xfrm>
            <a:off x="5940362" y="3763423"/>
            <a:ext cx="1984724" cy="342900"/>
          </a:xfrm>
          <a:prstGeom prst="rect">
            <a:avLst/>
          </a:prstGeom>
          <a:noFill/>
          <a:ln>
            <a:noFill/>
          </a:ln>
        </p:spPr>
        <p:txBody>
          <a:bodyPr wrap="none" lIns="95" tIns="34279" rIns="0" bIns="0" anchor="t" anchorCtr="0">
            <a:noAutofit/>
          </a:bodyPr>
          <a:lstStyle/>
          <a:p>
            <a:pPr algn="ctr"/>
            <a:r>
              <a:rPr 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技术依赖</a:t>
            </a:r>
            <a:r>
              <a:rPr 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（复用）</a:t>
            </a:r>
            <a:endParaRPr lang="zh-CN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096000" y="4729353"/>
            <a:ext cx="5405818" cy="873919"/>
          </a:xfrm>
          <a:prstGeom prst="rect">
            <a:avLst/>
          </a:prstGeom>
          <a:noFill/>
          <a:ln>
            <a:noFill/>
          </a:ln>
        </p:spPr>
      </p:sp>
      <p:sp>
        <p:nvSpPr>
          <p:cNvPr id="13" name="矩形 12"/>
          <p:cNvSpPr/>
          <p:nvPr/>
        </p:nvSpPr>
        <p:spPr>
          <a:xfrm>
            <a:off x="300609" y="4729353"/>
            <a:ext cx="5405818" cy="456533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矩形 13"/>
          <p:cNvSpPr/>
          <p:nvPr/>
        </p:nvSpPr>
        <p:spPr>
          <a:xfrm>
            <a:off x="345376" y="1969389"/>
            <a:ext cx="5405818" cy="456533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1" name="p03-cap-1"/>
          <p:cNvGrpSpPr/>
          <p:nvPr/>
        </p:nvGrpSpPr>
        <p:grpSpPr>
          <a:xfrm>
            <a:off x="422720" y="1593850"/>
            <a:ext cx="4504931" cy="409257"/>
            <a:chOff x="422720" y="1593850"/>
            <a:chExt cx="4504931" cy="409257"/>
          </a:xfrm>
        </p:grpSpPr>
        <p:sp>
          <p:nvSpPr>
            <p:cNvPr id="19" name="TextBox 19"/>
            <p:cNvSpPr txBox="1"/>
            <p:nvPr/>
          </p:nvSpPr>
          <p:spPr>
            <a:xfrm>
              <a:off x="422720" y="1593850"/>
              <a:ext cx="1448085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① 声明卡 schema 族</a:t>
              </a:r>
              <a:endParaRPr lang="zh-CN" sz="116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3862" y="1819275"/>
              <a:ext cx="4503789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六件 schema 把「结论」冻成可校验原子：ClaimCard 1.4.0 / ClaimRow 1.2.0</a:t>
              </a:r>
              <a:endParaRPr lang="zh-CN" sz="94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24" name="p03-cap-2"/>
          <p:cNvGrpSpPr/>
          <p:nvPr/>
        </p:nvGrpSpPr>
        <p:grpSpPr>
          <a:xfrm>
            <a:off x="422720" y="2355850"/>
            <a:ext cx="4686423" cy="409257"/>
            <a:chOff x="422720" y="2355850"/>
            <a:chExt cx="4686423" cy="409257"/>
          </a:xfrm>
        </p:grpSpPr>
        <p:sp>
          <p:nvSpPr>
            <p:cNvPr id="22" name="TextBox 22"/>
            <p:cNvSpPr txBox="1"/>
            <p:nvPr/>
          </p:nvSpPr>
          <p:spPr>
            <a:xfrm>
              <a:off x="422720" y="2355850"/>
              <a:ext cx="93197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② 八步校验链</a:t>
              </a:r>
              <a:endParaRPr lang="zh-CN" sz="116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23862" y="2581275"/>
              <a:ext cx="4685281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schema→execution→context→binding→values→citation→deviation→row_conflict</a:t>
              </a:r>
              <a:endParaRPr lang="en-US" sz="94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27" name="p03-cap-3"/>
          <p:cNvGrpSpPr/>
          <p:nvPr/>
        </p:nvGrpSpPr>
        <p:grpSpPr>
          <a:xfrm>
            <a:off x="422720" y="3117850"/>
            <a:ext cx="4520897" cy="409257"/>
            <a:chOff x="422720" y="3117850"/>
            <a:chExt cx="4520897" cy="409257"/>
          </a:xfrm>
        </p:grpSpPr>
        <p:sp>
          <p:nvSpPr>
            <p:cNvPr id="25" name="TextBox 25"/>
            <p:cNvSpPr txBox="1"/>
            <p:nvPr/>
          </p:nvSpPr>
          <p:spPr>
            <a:xfrm>
              <a:off x="422720" y="3117850"/>
              <a:ext cx="791436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③ 六道 rail</a:t>
              </a:r>
              <a:endParaRPr lang="zh-CN" sz="116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3862" y="3343275"/>
              <a:ext cx="4519755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CitationGate · Provenance · InferenceScope · Compliance · Budget · HITL</a:t>
              </a:r>
              <a:endParaRPr lang="en-US" sz="94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30" name="p03-cap-4"/>
          <p:cNvGrpSpPr/>
          <p:nvPr/>
        </p:nvGrpSpPr>
        <p:grpSpPr>
          <a:xfrm>
            <a:off x="6232970" y="1593850"/>
            <a:ext cx="4367918" cy="409257"/>
            <a:chOff x="6232970" y="1593850"/>
            <a:chExt cx="4367918" cy="409257"/>
          </a:xfrm>
        </p:grpSpPr>
        <p:sp>
          <p:nvSpPr>
            <p:cNvPr id="28" name="TextBox 28"/>
            <p:cNvSpPr txBox="1"/>
            <p:nvPr/>
          </p:nvSpPr>
          <p:spPr>
            <a:xfrm>
              <a:off x="6232970" y="1593850"/>
              <a:ext cx="1244297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④ 账本与双源对账</a:t>
              </a:r>
              <a:endParaRPr lang="zh-CN" sz="116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34112" y="1819275"/>
              <a:ext cx="4366776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append-only CLAIMS.jsonl + rawlog + artifacts，WAL 先行、row_id 幂等</a:t>
              </a:r>
              <a:endParaRPr lang="zh-CN" sz="94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33" name="p03-cap-5"/>
          <p:cNvGrpSpPr/>
          <p:nvPr/>
        </p:nvGrpSpPr>
        <p:grpSpPr>
          <a:xfrm>
            <a:off x="6232970" y="2355850"/>
            <a:ext cx="5141978" cy="409257"/>
            <a:chOff x="6232970" y="2355850"/>
            <a:chExt cx="5141978" cy="409257"/>
          </a:xfrm>
        </p:grpSpPr>
        <p:sp>
          <p:nvSpPr>
            <p:cNvPr id="31" name="TextBox 31"/>
            <p:cNvSpPr txBox="1"/>
            <p:nvPr/>
          </p:nvSpPr>
          <p:spPr>
            <a:xfrm>
              <a:off x="6232970" y="2355850"/>
              <a:ext cx="108813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⑤ 十一角色编排</a:t>
              </a:r>
              <a:endParaRPr lang="zh-CN" sz="116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34112" y="2581275"/>
              <a:ext cx="5140836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coordinator→intake-curator→librarian→analyst→writing→reviewer 1/2/3→ac→auditor</a:t>
              </a:r>
              <a:endParaRPr lang="en-US" sz="94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36" name="p03-cap-6"/>
          <p:cNvGrpSpPr/>
          <p:nvPr/>
        </p:nvGrpSpPr>
        <p:grpSpPr>
          <a:xfrm>
            <a:off x="6232970" y="3117850"/>
            <a:ext cx="4781331" cy="409257"/>
            <a:chOff x="6232970" y="3117850"/>
            <a:chExt cx="4781331" cy="409257"/>
          </a:xfrm>
        </p:grpSpPr>
        <p:sp>
          <p:nvSpPr>
            <p:cNvPr id="34" name="TextBox 34"/>
            <p:cNvSpPr txBox="1"/>
            <p:nvPr/>
          </p:nvSpPr>
          <p:spPr>
            <a:xfrm>
              <a:off x="6232970" y="3117850"/>
              <a:ext cx="775820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⑥ 七道门禁</a:t>
              </a:r>
              <a:endParaRPr lang="zh-CN" sz="116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34112" y="3343275"/>
              <a:ext cx="4780189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82 语义/规则 + 18 版本对偶 + 73 文档口径 + 76 行为 + 48 端到端 + 35 向量 + 2 组合</a:t>
              </a:r>
              <a:endParaRPr lang="zh-CN" sz="94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38" name="p03-adv"/>
          <p:cNvGrpSpPr/>
          <p:nvPr/>
        </p:nvGrpSpPr>
        <p:grpSpPr>
          <a:xfrm>
            <a:off x="452438" y="4425950"/>
            <a:ext cx="3584956" cy="841058"/>
            <a:chOff x="452438" y="4425950"/>
            <a:chExt cx="3584956" cy="841058"/>
          </a:xfrm>
        </p:grpSpPr>
        <p:sp>
          <p:nvSpPr>
            <p:cNvPr id="37" name="TextBox 37"/>
            <p:cNvSpPr txBox="1"/>
            <p:nvPr/>
          </p:nvSpPr>
          <p:spPr>
            <a:xfrm>
              <a:off x="452438" y="4425950"/>
              <a:ext cx="3584956" cy="8410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1600" indent="-101600" algn="l">
                <a:lnSpc>
                  <a:spcPts val="1725"/>
                </a:lnSpc>
                <a:buClr>
                  <a:srgbClr val="1D1D1B"/>
                </a:buClr>
                <a:buSzTx/>
                <a:buFontTx/>
                <a:buChar char="•"/>
              </a:pPr>
              <a:r>
                <a: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不是「更会写」，而是「更会拒绝」：20 类冻结错误码逐环拦截</a:t>
              </a:r>
              <a:endParaRPr lang="zh-CN" sz="94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101600" indent="-101600" algn="l">
                <a:lnSpc>
                  <a:spcPts val="1725"/>
                </a:lnSpc>
                <a:buClr>
                  <a:srgbClr val="1D1D1B"/>
                </a:buClr>
                <a:buSzTx/>
                <a:buFontTx/>
                <a:buChar char="•"/>
              </a:pPr>
              <a:r>
                <a: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结论可复现：脚本、产物、数据、快照全部内容寻址，重跑即复现</a:t>
              </a:r>
              <a:endParaRPr lang="zh-CN" sz="94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101600" indent="-101600" algn="l">
                <a:lnSpc>
                  <a:spcPts val="1725"/>
                </a:lnSpc>
                <a:buClr>
                  <a:srgbClr val="1D1D1B"/>
                </a:buClr>
                <a:buSzTx/>
                <a:buFontTx/>
                <a:buChar char="•"/>
              </a:pPr>
              <a:r>
                <a: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可审计可追责：事件链 + 审计报告 + 双源对账，改一行即被发现</a:t>
              </a:r>
              <a:endParaRPr lang="zh-CN" sz="94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101600" indent="-101600" algn="l">
                <a:lnSpc>
                  <a:spcPts val="1725"/>
                </a:lnSpc>
                <a:buClr>
                  <a:srgbClr val="1D1D1B"/>
                </a:buClr>
                <a:buSzTx/>
                <a:buFontTx/>
                <a:buChar char="•"/>
              </a:pPr>
              <a:r>
                <a: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真实数据端到端已跑通：48 项检查，含 20 条负例与两处崩溃注入</a:t>
              </a:r>
              <a:endParaRPr lang="zh-CN" sz="94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40" name="p03-dep"/>
          <p:cNvGrpSpPr/>
          <p:nvPr/>
        </p:nvGrpSpPr>
        <p:grpSpPr>
          <a:xfrm>
            <a:off x="6262688" y="4425950"/>
            <a:ext cx="3781933" cy="841058"/>
            <a:chOff x="6262688" y="4425950"/>
            <a:chExt cx="3781933" cy="841058"/>
          </a:xfrm>
        </p:grpSpPr>
        <p:sp>
          <p:nvSpPr>
            <p:cNvPr id="39" name="TextBox 39"/>
            <p:cNvSpPr txBox="1"/>
            <p:nvPr/>
          </p:nvSpPr>
          <p:spPr>
            <a:xfrm>
              <a:off x="6262688" y="4425950"/>
              <a:ext cx="3781933" cy="8410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1600" indent="-101600" algn="l">
                <a:lnSpc>
                  <a:spcPts val="1725"/>
                </a:lnSpc>
                <a:buClr>
                  <a:srgbClr val="1D1D1B"/>
                </a:buClr>
                <a:buSzTx/>
                <a:buFontTx/>
                <a:buChar char="•"/>
              </a:pPr>
              <a:r>
                <a: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openjiuwen（agent-core）：DeepAgentRail、MCP、权限与 HITL 包</a:t>
              </a:r>
              <a:endParaRPr lang="zh-CN" sz="94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101600" indent="-101600" algn="l">
                <a:lnSpc>
                  <a:spcPts val="1725"/>
                </a:lnSpc>
                <a:buClr>
                  <a:srgbClr val="1D1D1B"/>
                </a:buClr>
                <a:buSzTx/>
                <a:buFontTx/>
                <a:buChar char="•"/>
              </a:pPr>
              <a:r>
                <a: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WorkSwarm harness：调度、十一角色、扩展装载与 MCP 注册</a:t>
              </a:r>
              <a:endParaRPr lang="zh-CN" sz="94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101600" indent="-101600" algn="l">
                <a:lnSpc>
                  <a:spcPts val="1725"/>
                </a:lnSpc>
                <a:buClr>
                  <a:srgbClr val="1D1D1B"/>
                </a:buClr>
                <a:buSzTx/>
                <a:buFontTx/>
                <a:buChar char="•"/>
              </a:pPr>
              <a:r>
                <a: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jsonschema 4.26.0 / Python 3.12+；本地目录或对象存储</a:t>
              </a:r>
              <a:endParaRPr lang="zh-CN" sz="94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101600" indent="-101600" algn="l">
                <a:lnSpc>
                  <a:spcPts val="1725"/>
                </a:lnSpc>
                <a:buClr>
                  <a:srgbClr val="1D1D1B"/>
                </a:buClr>
                <a:buSzTx/>
                <a:buFontTx/>
                <a:buChar char="•"/>
              </a:pPr>
              <a:r>
                <a: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Demo：run_gates.sh 七道门禁 + demo/run_e2e.py 端到端复跑</a:t>
              </a:r>
              <a:endParaRPr lang="zh-CN" sz="94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/>
          <p:nvPr>
            <p:ph type="subTitle" idx="1"/>
          </p:nvPr>
        </p:nvSpPr>
        <p:spPr>
          <a:xfrm>
            <a:off x="208502" y="284798"/>
            <a:ext cx="10736485" cy="375952"/>
          </a:xfrm>
          <a:prstGeom prst="rect">
            <a:avLst/>
          </a:prstGeom>
          <a:noFill/>
          <a:ln>
            <a:noFill/>
          </a:ln>
        </p:spPr>
        <p:txBody>
          <a:bodyPr wrap="none" lIns="0" tIns="-63517" rIns="0" bIns="0" anchor="t" anchorCtr="0">
            <a:noAutofit/>
          </a:bodyPr>
          <a:lstStyle/>
          <a:p>
            <a:pPr algn="l"/>
            <a:r>
              <a:rPr 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系统架构：八层 + 证据链</a:t>
            </a:r>
            <a:endParaRPr lang="zh-CN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93091" y="2784253"/>
            <a:ext cx="5405818" cy="1704975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" name="p04-arch"/>
          <p:cNvGrpSpPr/>
          <p:nvPr/>
        </p:nvGrpSpPr>
        <p:grpSpPr>
          <a:xfrm>
            <a:off x="209550" y="838200"/>
            <a:ext cx="6572250" cy="5286375"/>
            <a:chOff x="209550" y="838200"/>
            <a:chExt cx="6572250" cy="5286375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9550" y="838200"/>
              <a:ext cx="6572250" cy="5286375"/>
            </a:xfrm>
            <a:prstGeom prst="rect">
              <a:avLst/>
            </a:prstGeom>
          </p:spPr>
        </p:pic>
      </p:grpSp>
      <p:grpSp>
        <p:nvGrpSpPr>
          <p:cNvPr id="8" name="p04-caption"/>
          <p:cNvGrpSpPr/>
          <p:nvPr/>
        </p:nvGrpSpPr>
        <p:grpSpPr>
          <a:xfrm>
            <a:off x="319088" y="6261100"/>
            <a:ext cx="4016624" cy="161925"/>
            <a:chOff x="319088" y="6261100"/>
            <a:chExt cx="4016624" cy="161925"/>
          </a:xfrm>
        </p:grpSpPr>
        <p:sp>
          <p:nvSpPr>
            <p:cNvPr id="7" name="TextBox 7"/>
            <p:cNvSpPr txBox="1"/>
            <p:nvPr/>
          </p:nvSpPr>
          <p:spPr>
            <a:xfrm>
              <a:off x="319088" y="6261100"/>
              <a:ext cx="40166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图：v27 总体架构（八层）；八步链与六道 rail 在流水线层与 ledger-mcp 之间。</a:t>
              </a:r>
              <a:endParaRPr lang="zh-CN" sz="820" dirty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19" name="p04-guide"/>
          <p:cNvGrpSpPr/>
          <p:nvPr/>
        </p:nvGrpSpPr>
        <p:grpSpPr>
          <a:xfrm>
            <a:off x="7061644" y="812800"/>
            <a:ext cx="3952233" cy="3209607"/>
            <a:chOff x="7061644" y="812800"/>
            <a:chExt cx="3952233" cy="3209607"/>
          </a:xfrm>
        </p:grpSpPr>
        <p:sp>
          <p:nvSpPr>
            <p:cNvPr id="9" name="TextBox 9"/>
            <p:cNvSpPr txBox="1"/>
            <p:nvPr/>
          </p:nvSpPr>
          <p:spPr>
            <a:xfrm>
              <a:off x="7061644" y="812800"/>
              <a:ext cx="2041881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读图：一条声明怎么走完八层</a:t>
              </a:r>
              <a:endParaRPr lang="zh-CN" sz="116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62597" y="1181100"/>
              <a:ext cx="34028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① 输入契约层 Research Brief 冻结问题、数据、文献三档</a:t>
              </a:r>
              <a:endParaRPr lang="zh-CN" sz="98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62597" y="1476375"/>
              <a:ext cx="337406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② 流水线层 SwarmSkill 十一角色 + SwarmFlow 横切编排</a:t>
              </a:r>
              <a:endParaRPr lang="zh-CN" sz="98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62597" y="1771650"/>
              <a:ext cx="313659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③ 可信门层六道 rail 在上下文装配处拦截（执行点①）</a:t>
              </a:r>
              <a:endParaRPr lang="zh-CN" sz="98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62597" y="2066925"/>
              <a:ext cx="333298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④ ledger-mcp 是唯一写入口：八步校验后 WAL 先行落账</a:t>
              </a:r>
              <a:endParaRPr lang="zh-CN" sz="98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62597" y="2362200"/>
              <a:ext cx="297845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⑤ 证据链层 CLAIMS.jsonl append-only，永不压缩</a:t>
              </a:r>
              <a:endParaRPr lang="zh-CN" sz="98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62597" y="2657475"/>
              <a:ext cx="335875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⑥ 审计出口层 Auditor 双源对账：账本 × 原始日志 + 重放</a:t>
              </a:r>
              <a:endParaRPr lang="zh-CN" sz="98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62597" y="2952750"/>
              <a:ext cx="36283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⑦ 平台层 WorkSwarm harness 提供调度、MCP、权限、rails</a:t>
              </a:r>
              <a:endParaRPr lang="zh-CN" sz="98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62597" y="3543300"/>
              <a:ext cx="395128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写路径：rawlog → artifacts → 账本（WAL 先行，row_id 幂等）</a:t>
              </a:r>
              <a:endParaRPr lang="zh-CN" sz="98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62788" y="3838575"/>
              <a:ext cx="3173095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任何一环不成立即拒绝，返回冻结码而不是写入脏数据。</a:t>
              </a:r>
              <a:endParaRPr lang="zh-CN" sz="940" dirty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/>
        </p:nvSpPr>
        <p:spPr>
          <a:xfrm>
            <a:off x="126968" y="191929"/>
            <a:ext cx="12069794" cy="436054"/>
          </a:xfrm>
          <a:prstGeom prst="rect">
            <a:avLst/>
          </a:prstGeom>
          <a:noFill/>
          <a:ln>
            <a:noFill/>
          </a:ln>
        </p:spPr>
        <p:txBody>
          <a:bodyPr wrap="none" lIns="0" tIns="-63510" rIns="0" bIns="0" anchor="t" anchorCtr="0">
            <a:noAutofit/>
          </a:bodyPr>
          <a:lstStyle/>
          <a:p>
            <a:pPr algn="l"/>
            <a:r>
              <a:rPr 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生态能力利用：把作品长在 openJiuwen 上</a:t>
            </a:r>
            <a:endParaRPr lang="zh-CN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/>
          <p:nvPr/>
        </p:nvSpPr>
        <p:spPr>
          <a:xfrm>
            <a:off x="194501" y="3552158"/>
            <a:ext cx="11731562" cy="2769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none" lIns="0" tIns="45738" rIns="0" bIns="0" anchor="t" anchorCtr="0">
            <a:no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四类平台原生扩展点 · 一行都不 fork harness core</a:t>
            </a:r>
            <a:endParaRPr lang="zh-CN" sz="1200" b="1" dirty="0">
              <a:solidFill>
                <a:srgbClr val="FFFFFF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5" name="Shape 4"/>
          <p:cNvSpPr/>
          <p:nvPr/>
        </p:nvSpPr>
        <p:spPr>
          <a:xfrm>
            <a:off x="214312" y="1041654"/>
            <a:ext cx="11247120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Shape 5"/>
          <p:cNvSpPr/>
          <p:nvPr/>
        </p:nvSpPr>
        <p:spPr>
          <a:xfrm>
            <a:off x="214312" y="1169670"/>
            <a:ext cx="36576" cy="502920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7" name="Text 6"/>
          <p:cNvSpPr/>
          <p:nvPr/>
        </p:nvSpPr>
        <p:spPr>
          <a:xfrm>
            <a:off x="378904" y="112395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8B1F2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8"/>
          <p:cNvSpPr/>
          <p:nvPr/>
        </p:nvSpPr>
        <p:spPr>
          <a:xfrm>
            <a:off x="378904" y="1672590"/>
            <a:ext cx="219998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60960" rIns="0" bIns="0" anchor="t" anchorCtr="0">
            <a:noAutofit/>
          </a:bodyPr>
          <a:lstStyle/>
          <a:p>
            <a:pPr algn="l"/>
            <a:r>
              <a:rPr lang="zh-CN" sz="2200" b="1" dirty="0">
                <a:solidFill>
                  <a:srgbClr val="1A1A1A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生态扩展点</a:t>
            </a:r>
            <a:endParaRPr lang="zh-CN" sz="2200" b="1" dirty="0">
              <a:solidFill>
                <a:srgbClr val="1A1A1A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9" name="Shape 9"/>
          <p:cNvSpPr/>
          <p:nvPr/>
        </p:nvSpPr>
        <p:spPr>
          <a:xfrm>
            <a:off x="378904" y="2175510"/>
            <a:ext cx="2100000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10"/>
          <p:cNvSpPr/>
          <p:nvPr/>
        </p:nvSpPr>
        <p:spPr>
          <a:xfrm>
            <a:off x="378904" y="2266950"/>
            <a:ext cx="2100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8B1F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 心 价 值</a:t>
            </a:r>
            <a:endParaRPr lang="en-US" sz="1000" dirty="0"/>
          </a:p>
        </p:txBody>
      </p:sp>
      <p:sp>
        <p:nvSpPr>
          <p:cNvPr id="11" name="Text 11"/>
          <p:cNvSpPr/>
          <p:nvPr/>
        </p:nvSpPr>
        <p:spPr>
          <a:xfrm>
            <a:off x="378904" y="2541270"/>
            <a:ext cx="2199989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190500" rIns="0" bIns="0" anchor="t" anchorCtr="0">
            <a:noAutofit/>
          </a:bodyPr>
          <a:lstStyle/>
          <a:p>
            <a:pPr algn="l">
              <a:lnSpc>
                <a:spcPts val="1650"/>
              </a:lnSpc>
            </a:pPr>
            <a:r>
              <a:rPr lang="zh-CN" sz="1050" dirty="0">
                <a:solidFill>
                  <a:srgbClr val="2B2B2B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六道门与审计做成原生 Rail 扩展，</a:t>
            </a:r>
            <a:br>
              <a:rPr lang="zh-CN" sz="1050" dirty="0">
                <a:solidFill>
                  <a:srgbClr val="2B2B2B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</a:br>
            <a:r>
              <a:rPr lang="zh-CN" sz="1050" dirty="0">
                <a:solidFill>
                  <a:srgbClr val="2B2B2B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挂在 openJiuwen 执行点，</a:t>
            </a:r>
            <a:br>
              <a:rPr lang="zh-CN" sz="1050" dirty="0">
                <a:solidFill>
                  <a:srgbClr val="2B2B2B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</a:br>
            <a:r>
              <a:rPr lang="zh-CN" sz="1050" dirty="0">
                <a:solidFill>
                  <a:srgbClr val="2B2B2B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不改 harness 内核</a:t>
            </a:r>
            <a:endParaRPr lang="zh-CN" sz="1050" dirty="0">
              <a:solidFill>
                <a:srgbClr val="2B2B2B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12" name="Text 12"/>
          <p:cNvSpPr/>
          <p:nvPr/>
        </p:nvSpPr>
        <p:spPr>
          <a:xfrm>
            <a:off x="322506" y="4012799"/>
            <a:ext cx="2100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b="1" kern="0" spc="600" dirty="0">
                <a:solidFill>
                  <a:srgbClr val="8B1F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示 意 方 向</a:t>
            </a:r>
            <a:endParaRPr lang="en-US" sz="1000" dirty="0"/>
          </a:p>
        </p:txBody>
      </p:sp>
      <p:sp>
        <p:nvSpPr>
          <p:cNvPr id="13" name="Shape 13"/>
          <p:cNvSpPr/>
          <p:nvPr/>
        </p:nvSpPr>
        <p:spPr>
          <a:xfrm>
            <a:off x="322506" y="4441377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14" name="Text 14"/>
          <p:cNvSpPr/>
          <p:nvPr/>
        </p:nvSpPr>
        <p:spPr>
          <a:xfrm>
            <a:off x="450532" y="4377404"/>
            <a:ext cx="1999964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-35" rIns="0" bIns="0" anchor="t" anchorCtr="0">
            <a:noAutofit/>
          </a:bodyPr>
          <a:lstStyle/>
          <a:p>
            <a:pPr algn="l">
              <a:lnSpc>
                <a:spcPts val="1200"/>
              </a:lnSpc>
            </a:pPr>
            <a:r>
              <a:rPr lang="zh-CN" sz="1000" b="1" dirty="0">
                <a:solidFill>
                  <a:srgbClr val="1A1A1A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Rail 扩展  ·  六个 hook 接入</a:t>
            </a:r>
            <a:endParaRPr lang="zh-CN" sz="1000" b="1" dirty="0">
              <a:solidFill>
                <a:srgbClr val="1A1A1A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322506" y="4770561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16" name="Text 16"/>
          <p:cNvSpPr/>
          <p:nvPr/>
        </p:nvSpPr>
        <p:spPr>
          <a:xfrm>
            <a:off x="450532" y="4706588"/>
            <a:ext cx="1999964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-35" rIns="0" bIns="0" anchor="t" anchorCtr="0">
            <a:noAutofit/>
          </a:bodyPr>
          <a:lstStyle/>
          <a:p>
            <a:pPr algn="l"/>
            <a:r>
              <a:rPr lang="zh-CN" sz="1000" b="1" dirty="0">
                <a:solidFill>
                  <a:srgbClr val="1A1A1A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extensions  ·  目录装载扩展</a:t>
            </a:r>
            <a:endParaRPr lang="zh-CN" sz="1000" b="1" dirty="0">
              <a:solidFill>
                <a:srgbClr val="1A1A1A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322506" y="5110829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18" name="Text 18"/>
          <p:cNvSpPr/>
          <p:nvPr/>
        </p:nvSpPr>
        <p:spPr>
          <a:xfrm>
            <a:off x="450532" y="5046821"/>
            <a:ext cx="1999964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000" b="1" dirty="0">
                <a:solidFill>
                  <a:srgbClr val="1A1A1A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_skip_tool  ·  工具级拦截</a:t>
            </a:r>
            <a:endParaRPr lang="zh-CN" sz="1000" b="1" dirty="0">
              <a:solidFill>
                <a:srgbClr val="1A1A1A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322506" y="5717295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20" name="Text 20"/>
          <p:cNvSpPr/>
          <p:nvPr/>
        </p:nvSpPr>
        <p:spPr>
          <a:xfrm>
            <a:off x="450532" y="5653278"/>
            <a:ext cx="1999964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9" rIns="0" bIns="0" anchor="t" anchorCtr="0">
            <a:noAutofit/>
          </a:bodyPr>
          <a:lstStyle/>
          <a:p>
            <a:pPr algn="l"/>
            <a:r>
              <a:rPr lang="zh-CN" sz="1000" b="1" dirty="0">
                <a:solidFill>
                  <a:srgbClr val="1A1A1A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任务迭代  ·  门层执行点①</a:t>
            </a:r>
            <a:endParaRPr lang="zh-CN" sz="1000" b="1" dirty="0">
              <a:solidFill>
                <a:srgbClr val="1A1A1A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21" name="Shape 21"/>
          <p:cNvSpPr/>
          <p:nvPr/>
        </p:nvSpPr>
        <p:spPr>
          <a:xfrm>
            <a:off x="322506" y="6046479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22" name="Text 22"/>
          <p:cNvSpPr/>
          <p:nvPr/>
        </p:nvSpPr>
        <p:spPr>
          <a:xfrm>
            <a:off x="450532" y="5982462"/>
            <a:ext cx="1999964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9" rIns="0" bIns="0" anchor="t" anchorCtr="0">
            <a:noAutofit/>
          </a:bodyPr>
          <a:lstStyle/>
          <a:p>
            <a:pPr algn="l"/>
            <a:r>
              <a:rPr lang="zh-CN" sz="1000" b="1" dirty="0">
                <a:solidFill>
                  <a:srgbClr val="1A1A1A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工具调用  ·  门层执行点②</a:t>
            </a:r>
            <a:endParaRPr lang="zh-CN" sz="1000" b="1" dirty="0">
              <a:solidFill>
                <a:srgbClr val="1A1A1A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23" name="Shape 23"/>
          <p:cNvSpPr/>
          <p:nvPr/>
        </p:nvSpPr>
        <p:spPr>
          <a:xfrm>
            <a:off x="322506" y="5428426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24" name="Text 24"/>
          <p:cNvSpPr/>
          <p:nvPr/>
        </p:nvSpPr>
        <p:spPr>
          <a:xfrm>
            <a:off x="450532" y="5364385"/>
            <a:ext cx="1999964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33" rIns="0" bIns="0" anchor="t" anchorCtr="0">
            <a:noAutofit/>
          </a:bodyPr>
          <a:lstStyle/>
          <a:p>
            <a:pPr algn="l">
              <a:lnSpc>
                <a:spcPts val="1200"/>
              </a:lnSpc>
            </a:pPr>
            <a:r>
              <a:rPr lang="zh-CN" sz="1000" b="1" dirty="0">
                <a:solidFill>
                  <a:srgbClr val="1A1A1A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失败关闭  ·  升级先跑契约测试</a:t>
            </a:r>
            <a:endParaRPr lang="zh-CN" sz="1000" b="1" dirty="0">
              <a:solidFill>
                <a:srgbClr val="1A1A1A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25" name="Shape 25"/>
          <p:cNvSpPr/>
          <p:nvPr/>
        </p:nvSpPr>
        <p:spPr>
          <a:xfrm>
            <a:off x="2744152" y="1169670"/>
            <a:ext cx="36576" cy="502920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26" name="Text 26"/>
          <p:cNvSpPr/>
          <p:nvPr/>
        </p:nvSpPr>
        <p:spPr>
          <a:xfrm>
            <a:off x="2908744" y="112395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8B1F2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3200" dirty="0"/>
          </a:p>
        </p:txBody>
      </p:sp>
      <p:sp>
        <p:nvSpPr>
          <p:cNvPr id="27" name="Text 28"/>
          <p:cNvSpPr/>
          <p:nvPr/>
        </p:nvSpPr>
        <p:spPr>
          <a:xfrm>
            <a:off x="2908744" y="1672590"/>
            <a:ext cx="219998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60960" rIns="0" bIns="0" anchor="t" anchorCtr="0">
            <a:noAutofit/>
          </a:bodyPr>
          <a:lstStyle/>
          <a:p>
            <a:pPr algn="l"/>
            <a:r>
              <a:rPr lang="zh-CN" sz="2200" b="1" dirty="0">
                <a:solidFill>
                  <a:srgbClr val="1A1A1A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工作流编排</a:t>
            </a:r>
            <a:endParaRPr lang="zh-CN" sz="2200" b="1" dirty="0">
              <a:solidFill>
                <a:srgbClr val="1A1A1A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28" name="Shape 29"/>
          <p:cNvSpPr/>
          <p:nvPr/>
        </p:nvSpPr>
        <p:spPr>
          <a:xfrm>
            <a:off x="2908744" y="2175510"/>
            <a:ext cx="2100000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9" name="Text 30"/>
          <p:cNvSpPr/>
          <p:nvPr/>
        </p:nvSpPr>
        <p:spPr>
          <a:xfrm>
            <a:off x="2908744" y="2266950"/>
            <a:ext cx="2100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8B1F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 心 价 值</a:t>
            </a:r>
            <a:endParaRPr lang="en-US" sz="1000" dirty="0"/>
          </a:p>
        </p:txBody>
      </p:sp>
      <p:sp>
        <p:nvSpPr>
          <p:cNvPr id="30" name="Text 31"/>
          <p:cNvSpPr/>
          <p:nvPr/>
        </p:nvSpPr>
        <p:spPr>
          <a:xfrm>
            <a:off x="2908744" y="2541270"/>
            <a:ext cx="2199989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190500" rIns="0" bIns="0" anchor="t" anchorCtr="0">
            <a:noAutofit/>
          </a:bodyPr>
          <a:lstStyle/>
          <a:p>
            <a:pPr algn="l">
              <a:lnSpc>
                <a:spcPts val="1650"/>
              </a:lnSpc>
            </a:pPr>
            <a:r>
              <a:rPr lang="zh-CN" sz="1050" dirty="0">
                <a:solidFill>
                  <a:srgbClr val="2B2B2B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SwarmFlow 编排十一角色，</a:t>
            </a:r>
            <a:br>
              <a:rPr lang="zh-CN" sz="1050" dirty="0">
                <a:solidFill>
                  <a:srgbClr val="2B2B2B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</a:br>
            <a:r>
              <a:rPr lang="zh-CN" sz="1050" dirty="0">
                <a:solidFill>
                  <a:srgbClr val="2B2B2B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声明卡生成前必须过门层，</a:t>
            </a:r>
            <a:br>
              <a:rPr lang="zh-CN" sz="1050" dirty="0">
                <a:solidFill>
                  <a:srgbClr val="2B2B2B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</a:br>
            <a:r>
              <a:rPr lang="zh-CN" sz="1050" dirty="0">
                <a:solidFill>
                  <a:srgbClr val="2B2B2B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产出即证据</a:t>
            </a:r>
            <a:endParaRPr lang="zh-CN" sz="1050" dirty="0">
              <a:solidFill>
                <a:srgbClr val="2B2B2B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31" name="Shape 33"/>
          <p:cNvSpPr/>
          <p:nvPr/>
        </p:nvSpPr>
        <p:spPr>
          <a:xfrm>
            <a:off x="2852346" y="4441377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32" name="Text 34"/>
          <p:cNvSpPr/>
          <p:nvPr/>
        </p:nvSpPr>
        <p:spPr>
          <a:xfrm>
            <a:off x="2980372" y="4377404"/>
            <a:ext cx="1999964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-35" rIns="0" bIns="0" anchor="t" anchorCtr="0">
            <a:noAutofit/>
          </a:bodyPr>
          <a:lstStyle/>
          <a:p>
            <a:pPr algn="l"/>
            <a:r>
              <a:rPr lang="zh-CN" sz="1000" b="1" dirty="0">
                <a:solidFill>
                  <a:srgbClr val="1A1A1A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SwarmFlow  ·  状态机编排</a:t>
            </a:r>
            <a:endParaRPr lang="zh-CN" sz="1000" b="1" dirty="0">
              <a:solidFill>
                <a:srgbClr val="1A1A1A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33" name="Shape 35"/>
          <p:cNvSpPr/>
          <p:nvPr/>
        </p:nvSpPr>
        <p:spPr>
          <a:xfrm>
            <a:off x="2852346" y="4770561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34" name="Text 36"/>
          <p:cNvSpPr/>
          <p:nvPr/>
        </p:nvSpPr>
        <p:spPr>
          <a:xfrm>
            <a:off x="2980372" y="4706588"/>
            <a:ext cx="1999964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-35" rIns="0" bIns="0" anchor="t" anchorCtr="0">
            <a:noAutofit/>
          </a:bodyPr>
          <a:lstStyle/>
          <a:p>
            <a:pPr algn="l"/>
            <a:r>
              <a:rPr lang="zh-CN" sz="1000" b="1" dirty="0">
                <a:solidFill>
                  <a:srgbClr val="1A1A1A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intake  ·  冻结问题与数据</a:t>
            </a:r>
            <a:endParaRPr lang="zh-CN" sz="1000" b="1" dirty="0">
              <a:solidFill>
                <a:srgbClr val="1A1A1A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35" name="Shape 37"/>
          <p:cNvSpPr/>
          <p:nvPr/>
        </p:nvSpPr>
        <p:spPr>
          <a:xfrm>
            <a:off x="2852346" y="5099745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36" name="Text 38"/>
          <p:cNvSpPr/>
          <p:nvPr/>
        </p:nvSpPr>
        <p:spPr>
          <a:xfrm>
            <a:off x="2980372" y="5035772"/>
            <a:ext cx="1999964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-35" rIns="0" bIns="0" anchor="t" anchorCtr="0">
            <a:noAutofit/>
          </a:bodyPr>
          <a:lstStyle/>
          <a:p>
            <a:pPr algn="l"/>
            <a:r>
              <a:rPr lang="zh-CN" sz="1000" b="1" dirty="0">
                <a:solidFill>
                  <a:srgbClr val="1A1A1A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librarian  ·  检索与取证</a:t>
            </a:r>
            <a:endParaRPr lang="zh-CN" sz="1000" b="1" dirty="0">
              <a:solidFill>
                <a:srgbClr val="1A1A1A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37" name="Shape 39"/>
          <p:cNvSpPr/>
          <p:nvPr/>
        </p:nvSpPr>
        <p:spPr>
          <a:xfrm>
            <a:off x="2852346" y="5428929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38" name="Text 40"/>
          <p:cNvSpPr/>
          <p:nvPr/>
        </p:nvSpPr>
        <p:spPr>
          <a:xfrm>
            <a:off x="2980372" y="5364956"/>
            <a:ext cx="1999964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-35" rIns="0" bIns="0" anchor="t" anchorCtr="0">
            <a:noAutofit/>
          </a:bodyPr>
          <a:lstStyle/>
          <a:p>
            <a:pPr algn="l"/>
            <a:r>
              <a:rPr lang="zh-CN" sz="1000" b="1" dirty="0">
                <a:solidFill>
                  <a:srgbClr val="1A1A1A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analyst  ·  分析并出数值</a:t>
            </a:r>
            <a:endParaRPr lang="zh-CN" sz="1000" b="1" dirty="0">
              <a:solidFill>
                <a:srgbClr val="1A1A1A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39" name="Shape 41"/>
          <p:cNvSpPr/>
          <p:nvPr/>
        </p:nvSpPr>
        <p:spPr>
          <a:xfrm>
            <a:off x="2852346" y="5758113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40" name="Text 42"/>
          <p:cNvSpPr/>
          <p:nvPr/>
        </p:nvSpPr>
        <p:spPr>
          <a:xfrm>
            <a:off x="2980372" y="5694140"/>
            <a:ext cx="1999964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-35" rIns="0" bIns="0" anchor="t" anchorCtr="0">
            <a:noAutofit/>
          </a:bodyPr>
          <a:lstStyle/>
          <a:p>
            <a:pPr algn="l"/>
            <a:r>
              <a:rPr lang="zh-CN" sz="1000" b="1" dirty="0">
                <a:solidFill>
                  <a:srgbClr val="1A1A1A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writing  ·  只写有证据的声明</a:t>
            </a:r>
            <a:endParaRPr lang="zh-CN" sz="1000" b="1" dirty="0">
              <a:solidFill>
                <a:srgbClr val="1A1A1A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41" name="Shape 43"/>
          <p:cNvSpPr/>
          <p:nvPr/>
        </p:nvSpPr>
        <p:spPr>
          <a:xfrm>
            <a:off x="2852346" y="6087297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42" name="Text 44"/>
          <p:cNvSpPr/>
          <p:nvPr/>
        </p:nvSpPr>
        <p:spPr>
          <a:xfrm>
            <a:off x="2980372" y="6023324"/>
            <a:ext cx="1999964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-35" rIns="0" bIns="0" anchor="t" anchorCtr="0">
            <a:noAutofit/>
          </a:bodyPr>
          <a:lstStyle/>
          <a:p>
            <a:pPr algn="l"/>
            <a:r>
              <a:rPr lang="zh-CN" sz="1000" b="1" dirty="0">
                <a:solidFill>
                  <a:srgbClr val="1A1A1A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reviewer×3  ·  独立三审</a:t>
            </a:r>
            <a:endParaRPr lang="zh-CN" sz="1000" b="1" dirty="0">
              <a:solidFill>
                <a:srgbClr val="1A1A1A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43" name="Shape 45"/>
          <p:cNvSpPr/>
          <p:nvPr/>
        </p:nvSpPr>
        <p:spPr>
          <a:xfrm>
            <a:off x="5273992" y="1169670"/>
            <a:ext cx="36576" cy="502920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44" name="Text 46"/>
          <p:cNvSpPr/>
          <p:nvPr/>
        </p:nvSpPr>
        <p:spPr>
          <a:xfrm>
            <a:off x="5438584" y="112395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8B1F2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3200" dirty="0"/>
          </a:p>
        </p:txBody>
      </p:sp>
      <p:sp>
        <p:nvSpPr>
          <p:cNvPr id="45" name="Text 48"/>
          <p:cNvSpPr/>
          <p:nvPr/>
        </p:nvSpPr>
        <p:spPr>
          <a:xfrm>
            <a:off x="5438584" y="1672590"/>
            <a:ext cx="219998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60960" rIns="0" bIns="0" anchor="t" anchorCtr="0">
            <a:noAutofit/>
          </a:bodyPr>
          <a:lstStyle/>
          <a:p>
            <a:pPr algn="l"/>
            <a:r>
              <a:rPr lang="zh-CN" sz="2200" b="1" dirty="0">
                <a:solidFill>
                  <a:srgbClr val="1A1A1A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工具与协议</a:t>
            </a:r>
            <a:endParaRPr lang="zh-CN" sz="2200" b="1" dirty="0">
              <a:solidFill>
                <a:srgbClr val="1A1A1A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46" name="Shape 49"/>
          <p:cNvSpPr/>
          <p:nvPr/>
        </p:nvSpPr>
        <p:spPr>
          <a:xfrm>
            <a:off x="5438584" y="2175510"/>
            <a:ext cx="2100000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7" name="Text 50"/>
          <p:cNvSpPr/>
          <p:nvPr/>
        </p:nvSpPr>
        <p:spPr>
          <a:xfrm>
            <a:off x="5438584" y="2266950"/>
            <a:ext cx="2100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8B1F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 心 价 值</a:t>
            </a:r>
            <a:endParaRPr lang="en-US" sz="1000" dirty="0"/>
          </a:p>
        </p:txBody>
      </p:sp>
      <p:sp>
        <p:nvSpPr>
          <p:cNvPr id="48" name="Text 51"/>
          <p:cNvSpPr/>
          <p:nvPr/>
        </p:nvSpPr>
        <p:spPr>
          <a:xfrm>
            <a:off x="5438584" y="2541270"/>
            <a:ext cx="2199989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190500" rIns="0" bIns="0" anchor="t" anchorCtr="0">
            <a:noAutofit/>
          </a:bodyPr>
          <a:lstStyle/>
          <a:p>
            <a:pPr algn="l">
              <a:lnSpc>
                <a:spcPts val="1650"/>
              </a:lnSpc>
            </a:pPr>
            <a:r>
              <a:rPr lang="zh-CN" sz="1050" dirty="0">
                <a:solidFill>
                  <a:srgbClr val="2B2B2B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ledger-mcp 是唯一写入口，</a:t>
            </a:r>
            <a:br>
              <a:rPr lang="zh-CN" sz="1050" dirty="0">
                <a:solidFill>
                  <a:srgbClr val="2B2B2B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</a:br>
            <a:r>
              <a:rPr lang="zh-CN" sz="1050" dirty="0">
                <a:solidFill>
                  <a:srgbClr val="2B2B2B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四件工具覆盖写入、</a:t>
            </a:r>
            <a:br>
              <a:rPr lang="zh-CN" sz="1050" dirty="0">
                <a:solidFill>
                  <a:srgbClr val="2B2B2B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</a:br>
            <a:r>
              <a:rPr lang="zh-CN" sz="1050" dirty="0">
                <a:solidFill>
                  <a:srgbClr val="2B2B2B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干跑校验与双源对账</a:t>
            </a:r>
            <a:endParaRPr lang="zh-CN" sz="1050" dirty="0">
              <a:solidFill>
                <a:srgbClr val="2B2B2B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49" name="Shape 53"/>
          <p:cNvSpPr/>
          <p:nvPr/>
        </p:nvSpPr>
        <p:spPr>
          <a:xfrm>
            <a:off x="5382186" y="4441377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50" name="Text 54"/>
          <p:cNvSpPr/>
          <p:nvPr/>
        </p:nvSpPr>
        <p:spPr>
          <a:xfrm>
            <a:off x="5510212" y="4377404"/>
            <a:ext cx="1999964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-35" rIns="0" bIns="0" anchor="t" anchorCtr="0">
            <a:noAutofit/>
          </a:bodyPr>
          <a:lstStyle/>
          <a:p>
            <a:pPr algn="l"/>
            <a:r>
              <a:rPr lang="zh-CN" sz="1000" b="1" dirty="0">
                <a:solidFill>
                  <a:srgbClr val="1A1A1A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mcp.servers  ·  注册即用</a:t>
            </a:r>
            <a:endParaRPr lang="zh-CN" sz="1000" b="1" dirty="0">
              <a:solidFill>
                <a:srgbClr val="1A1A1A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51" name="Shape 55"/>
          <p:cNvSpPr/>
          <p:nvPr/>
        </p:nvSpPr>
        <p:spPr>
          <a:xfrm>
            <a:off x="5382186" y="4770561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52" name="Text 56"/>
          <p:cNvSpPr/>
          <p:nvPr/>
        </p:nvSpPr>
        <p:spPr>
          <a:xfrm>
            <a:off x="5510212" y="4706588"/>
            <a:ext cx="1999964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-35" rIns="0" bIns="0" anchor="t" anchorCtr="0">
            <a:noAutofit/>
          </a:bodyPr>
          <a:lstStyle/>
          <a:p>
            <a:pPr algn="l"/>
            <a:r>
              <a:rPr lang="zh-CN" sz="1000" b="1" dirty="0">
                <a:solidFill>
                  <a:srgbClr val="1A1A1A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append_claim  ·  唯一写入口</a:t>
            </a:r>
            <a:endParaRPr lang="zh-CN" sz="1000" b="1" dirty="0">
              <a:solidFill>
                <a:srgbClr val="1A1A1A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53" name="Shape 57"/>
          <p:cNvSpPr/>
          <p:nvPr/>
        </p:nvSpPr>
        <p:spPr>
          <a:xfrm>
            <a:off x="5382186" y="5099745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54" name="Text 58"/>
          <p:cNvSpPr/>
          <p:nvPr/>
        </p:nvSpPr>
        <p:spPr>
          <a:xfrm>
            <a:off x="5510212" y="5035772"/>
            <a:ext cx="1999964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-35" rIns="0" bIns="0" anchor="t" anchorCtr="0">
            <a:noAutofit/>
          </a:bodyPr>
          <a:lstStyle/>
          <a:p>
            <a:pPr algn="l"/>
            <a:r>
              <a:rPr lang="zh-CN" sz="1000" b="1" dirty="0">
                <a:solidFill>
                  <a:srgbClr val="1A1A1A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verify_claim  ·  落账前干跑</a:t>
            </a:r>
            <a:endParaRPr lang="zh-CN" sz="1000" b="1" dirty="0">
              <a:solidFill>
                <a:srgbClr val="1A1A1A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55" name="Shape 59"/>
          <p:cNvSpPr/>
          <p:nvPr/>
        </p:nvSpPr>
        <p:spPr>
          <a:xfrm>
            <a:off x="5382186" y="5428929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56" name="Text 60"/>
          <p:cNvSpPr/>
          <p:nvPr/>
        </p:nvSpPr>
        <p:spPr>
          <a:xfrm>
            <a:off x="5510212" y="5364956"/>
            <a:ext cx="1999964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-35" rIns="0" bIns="0" anchor="t" anchorCtr="0">
            <a:noAutofit/>
          </a:bodyPr>
          <a:lstStyle/>
          <a:p>
            <a:pPr algn="l"/>
            <a:r>
              <a:rPr lang="zh-CN" sz="1000" b="1" dirty="0">
                <a:solidFill>
                  <a:srgbClr val="1A1A1A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query  ·  只读检索声明</a:t>
            </a:r>
            <a:endParaRPr lang="zh-CN" sz="1000" b="1" dirty="0">
              <a:solidFill>
                <a:srgbClr val="1A1A1A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57" name="Shape 61"/>
          <p:cNvSpPr/>
          <p:nvPr/>
        </p:nvSpPr>
        <p:spPr>
          <a:xfrm>
            <a:off x="5382186" y="5758113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58" name="Text 62"/>
          <p:cNvSpPr/>
          <p:nvPr/>
        </p:nvSpPr>
        <p:spPr>
          <a:xfrm>
            <a:off x="5510212" y="5694140"/>
            <a:ext cx="1999964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-35" rIns="0" bIns="0" anchor="t" anchorCtr="0">
            <a:noAutofit/>
          </a:bodyPr>
          <a:lstStyle/>
          <a:p>
            <a:pPr algn="l"/>
            <a:r>
              <a:rPr lang="zh-CN" sz="1000" b="1" dirty="0">
                <a:solidFill>
                  <a:srgbClr val="1A1A1A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audit  ·  双源对账报告</a:t>
            </a:r>
            <a:endParaRPr lang="zh-CN" sz="1000" b="1" dirty="0">
              <a:solidFill>
                <a:srgbClr val="1A1A1A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59" name="Shape 63"/>
          <p:cNvSpPr/>
          <p:nvPr/>
        </p:nvSpPr>
        <p:spPr>
          <a:xfrm>
            <a:off x="5382186" y="6087297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60" name="Text 64"/>
          <p:cNvSpPr/>
          <p:nvPr/>
        </p:nvSpPr>
        <p:spPr>
          <a:xfrm>
            <a:off x="5510212" y="6023324"/>
            <a:ext cx="1999964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-35" rIns="0" bIns="0" anchor="t" anchorCtr="0">
            <a:noAutofit/>
          </a:bodyPr>
          <a:lstStyle/>
          <a:p>
            <a:pPr algn="l">
              <a:lnSpc>
                <a:spcPts val="1200"/>
              </a:lnSpc>
            </a:pPr>
            <a:r>
              <a:rPr lang="zh-CN" sz="1000" b="1" dirty="0">
                <a:solidFill>
                  <a:srgbClr val="1A1A1A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freeze_codes  ·  错误码复用</a:t>
            </a:r>
            <a:endParaRPr lang="zh-CN" sz="1000" b="1" dirty="0">
              <a:solidFill>
                <a:srgbClr val="1A1A1A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61" name="Text 12"/>
          <p:cNvSpPr/>
          <p:nvPr/>
        </p:nvSpPr>
        <p:spPr>
          <a:xfrm>
            <a:off x="2852346" y="4012799"/>
            <a:ext cx="2100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b="1" kern="0" spc="600" dirty="0">
                <a:solidFill>
                  <a:srgbClr val="8B1F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示 意 方 向</a:t>
            </a:r>
            <a:endParaRPr lang="en-US" sz="1000" dirty="0"/>
          </a:p>
        </p:txBody>
      </p:sp>
      <p:sp>
        <p:nvSpPr>
          <p:cNvPr id="62" name="Text 12"/>
          <p:cNvSpPr/>
          <p:nvPr/>
        </p:nvSpPr>
        <p:spPr>
          <a:xfrm>
            <a:off x="5382186" y="4012799"/>
            <a:ext cx="2100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b="1" kern="0" spc="600" dirty="0">
                <a:solidFill>
                  <a:srgbClr val="8B1F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示 意 方 向</a:t>
            </a:r>
            <a:endParaRPr lang="en-US" sz="1000" dirty="0"/>
          </a:p>
        </p:txBody>
      </p:sp>
      <p:sp>
        <p:nvSpPr>
          <p:cNvPr id="63" name="矩形: 圆角 62"/>
          <p:cNvSpPr/>
          <p:nvPr/>
        </p:nvSpPr>
        <p:spPr>
          <a:xfrm>
            <a:off x="194490" y="3891947"/>
            <a:ext cx="11731563" cy="2378889"/>
          </a:xfrm>
          <a:prstGeom prst="roundRect">
            <a:avLst>
              <a:gd name="adj" fmla="val 348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Shape 45"/>
          <p:cNvSpPr/>
          <p:nvPr/>
        </p:nvSpPr>
        <p:spPr>
          <a:xfrm>
            <a:off x="7803832" y="1169670"/>
            <a:ext cx="36576" cy="502920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65" name="Text 46"/>
          <p:cNvSpPr/>
          <p:nvPr/>
        </p:nvSpPr>
        <p:spPr>
          <a:xfrm>
            <a:off x="7968424" y="112395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8B1F2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3200" dirty="0"/>
          </a:p>
        </p:txBody>
      </p:sp>
      <p:sp>
        <p:nvSpPr>
          <p:cNvPr id="66" name="Text 48"/>
          <p:cNvSpPr/>
          <p:nvPr/>
        </p:nvSpPr>
        <p:spPr>
          <a:xfrm>
            <a:off x="7968424" y="1672590"/>
            <a:ext cx="219998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60960" rIns="0" bIns="0" anchor="t" anchorCtr="0">
            <a:noAutofit/>
          </a:bodyPr>
          <a:lstStyle/>
          <a:p>
            <a:pPr algn="l"/>
            <a:r>
              <a:rPr lang="zh-CN" sz="2200" b="1" dirty="0">
                <a:solidFill>
                  <a:srgbClr val="1A1A1A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基础设施复用</a:t>
            </a:r>
            <a:endParaRPr lang="zh-CN" sz="2200" b="1" dirty="0">
              <a:solidFill>
                <a:srgbClr val="1A1A1A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67" name="Shape 49"/>
          <p:cNvSpPr/>
          <p:nvPr/>
        </p:nvSpPr>
        <p:spPr>
          <a:xfrm>
            <a:off x="7968424" y="2175510"/>
            <a:ext cx="2100000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8" name="Text 50"/>
          <p:cNvSpPr/>
          <p:nvPr/>
        </p:nvSpPr>
        <p:spPr>
          <a:xfrm>
            <a:off x="7968424" y="2266950"/>
            <a:ext cx="2100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8B1F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 心 价 值</a:t>
            </a:r>
            <a:endParaRPr lang="en-US" sz="1000" dirty="0"/>
          </a:p>
        </p:txBody>
      </p:sp>
      <p:sp>
        <p:nvSpPr>
          <p:cNvPr id="69" name="Text 51"/>
          <p:cNvSpPr/>
          <p:nvPr/>
        </p:nvSpPr>
        <p:spPr>
          <a:xfrm>
            <a:off x="7968424" y="2541270"/>
            <a:ext cx="2199989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190500" rIns="0" bIns="0" anchor="t" anchorCtr="0">
            <a:noAutofit/>
          </a:bodyPr>
          <a:lstStyle/>
          <a:p>
            <a:pPr algn="l">
              <a:lnSpc>
                <a:spcPts val="1650"/>
              </a:lnSpc>
            </a:pPr>
            <a:r>
              <a:rPr lang="zh-CN" sz="1050" dirty="0">
                <a:solidFill>
                  <a:srgbClr val="2B2B2B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审计链、内容寻址、权限与</a:t>
            </a:r>
            <a:br>
              <a:rPr lang="zh-CN" sz="1050" dirty="0">
                <a:solidFill>
                  <a:srgbClr val="2B2B2B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</a:br>
            <a:r>
              <a:rPr lang="zh-CN" sz="1050" dirty="0">
                <a:solidFill>
                  <a:srgbClr val="2B2B2B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HITL 直接复用平台件，</a:t>
            </a:r>
            <a:br>
              <a:rPr lang="zh-CN" sz="1050" dirty="0">
                <a:solidFill>
                  <a:srgbClr val="2B2B2B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</a:br>
            <a:r>
              <a:rPr lang="zh-CN" sz="1050" dirty="0">
                <a:solidFill>
                  <a:srgbClr val="2B2B2B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只把规范化换成 JCS</a:t>
            </a:r>
            <a:endParaRPr lang="zh-CN" sz="1050" dirty="0">
              <a:solidFill>
                <a:srgbClr val="2B2B2B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70" name="Text 12"/>
          <p:cNvSpPr/>
          <p:nvPr/>
        </p:nvSpPr>
        <p:spPr>
          <a:xfrm>
            <a:off x="7912026" y="4012799"/>
            <a:ext cx="2100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b="1" kern="0" spc="600" dirty="0">
                <a:solidFill>
                  <a:srgbClr val="8B1F2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示 意 方 向</a:t>
            </a:r>
            <a:endParaRPr lang="en-US" sz="1000" dirty="0"/>
          </a:p>
        </p:txBody>
      </p:sp>
      <p:sp>
        <p:nvSpPr>
          <p:cNvPr id="71" name="Shape 53"/>
          <p:cNvSpPr/>
          <p:nvPr/>
        </p:nvSpPr>
        <p:spPr>
          <a:xfrm>
            <a:off x="7912026" y="4441377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72" name="Shape 55"/>
          <p:cNvSpPr/>
          <p:nvPr/>
        </p:nvSpPr>
        <p:spPr>
          <a:xfrm>
            <a:off x="7912026" y="4770561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73" name="Shape 57"/>
          <p:cNvSpPr/>
          <p:nvPr/>
        </p:nvSpPr>
        <p:spPr>
          <a:xfrm>
            <a:off x="7912026" y="5099745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74" name="Shape 59"/>
          <p:cNvSpPr/>
          <p:nvPr/>
        </p:nvSpPr>
        <p:spPr>
          <a:xfrm>
            <a:off x="7912026" y="5428929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75" name="Shape 61"/>
          <p:cNvSpPr/>
          <p:nvPr/>
        </p:nvSpPr>
        <p:spPr>
          <a:xfrm>
            <a:off x="7912026" y="5758113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76" name="Shape 63"/>
          <p:cNvSpPr/>
          <p:nvPr/>
        </p:nvSpPr>
        <p:spPr>
          <a:xfrm>
            <a:off x="7912026" y="6087297"/>
            <a:ext cx="54864" cy="54864"/>
          </a:xfrm>
          <a:prstGeom prst="rect">
            <a:avLst/>
          </a:prstGeom>
          <a:solidFill>
            <a:srgbClr val="8B1F2F"/>
          </a:solidFill>
          <a:ln w="12700">
            <a:solidFill>
              <a:srgbClr val="8B1F2F"/>
            </a:solidFill>
            <a:prstDash val="solid"/>
          </a:ln>
        </p:spPr>
      </p:sp>
      <p:sp>
        <p:nvSpPr>
          <p:cNvPr id="77" name="Text 54"/>
          <p:cNvSpPr/>
          <p:nvPr/>
        </p:nvSpPr>
        <p:spPr>
          <a:xfrm>
            <a:off x="8040052" y="4377404"/>
            <a:ext cx="1999964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-35" rIns="0" bIns="0" anchor="t" anchorCtr="0">
            <a:noAutofit/>
          </a:bodyPr>
          <a:lstStyle/>
          <a:p>
            <a:pPr algn="l"/>
            <a:r>
              <a:rPr lang="zh-CN" sz="1000" b="1" dirty="0">
                <a:solidFill>
                  <a:srgbClr val="1A1A1A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EvidenceWriter  ·  事件链</a:t>
            </a:r>
            <a:endParaRPr lang="zh-CN" sz="1000" b="1" dirty="0">
              <a:solidFill>
                <a:srgbClr val="1A1A1A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78" name="Text 56"/>
          <p:cNvSpPr/>
          <p:nvPr/>
        </p:nvSpPr>
        <p:spPr>
          <a:xfrm>
            <a:off x="8040052" y="4706588"/>
            <a:ext cx="1999964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-35" rIns="0" bIns="0" anchor="t" anchorCtr="0">
            <a:noAutofit/>
          </a:bodyPr>
          <a:lstStyle/>
          <a:p>
            <a:pPr algn="l"/>
            <a:r>
              <a:rPr lang="zh-CN" sz="1000" b="1" dirty="0">
                <a:solidFill>
                  <a:srgbClr val="1A1A1A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blob  ·  内容寻址存储</a:t>
            </a:r>
            <a:endParaRPr lang="zh-CN" sz="1000" b="1" dirty="0">
              <a:solidFill>
                <a:srgbClr val="1A1A1A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79" name="Text 58"/>
          <p:cNvSpPr/>
          <p:nvPr/>
        </p:nvSpPr>
        <p:spPr>
          <a:xfrm>
            <a:off x="8040052" y="5035772"/>
            <a:ext cx="1999964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-35" rIns="0" bIns="0" anchor="t" anchorCtr="0">
            <a:noAutofit/>
          </a:bodyPr>
          <a:lstStyle/>
          <a:p>
            <a:pPr algn="l"/>
            <a:r>
              <a:rPr lang="zh-CN" sz="1000" b="1" dirty="0">
                <a:solidFill>
                  <a:srgbClr val="1A1A1A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permissions  ·  策略评估</a:t>
            </a:r>
            <a:endParaRPr lang="zh-CN" sz="1000" b="1" dirty="0">
              <a:solidFill>
                <a:srgbClr val="1A1A1A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80" name="Text 60"/>
          <p:cNvSpPr/>
          <p:nvPr/>
        </p:nvSpPr>
        <p:spPr>
          <a:xfrm>
            <a:off x="8040052" y="5364956"/>
            <a:ext cx="1999964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-35" rIns="0" bIns="0" anchor="t" anchorCtr="0">
            <a:noAutofit/>
          </a:bodyPr>
          <a:lstStyle/>
          <a:p>
            <a:pPr algn="l"/>
            <a:r>
              <a:rPr lang="zh-CN" sz="1000" b="1" dirty="0">
                <a:solidFill>
                  <a:srgbClr val="1A1A1A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HITL  ·  中断与人工放行</a:t>
            </a:r>
            <a:endParaRPr lang="zh-CN" sz="1000" b="1" dirty="0">
              <a:solidFill>
                <a:srgbClr val="1A1A1A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81" name="Text 62"/>
          <p:cNvSpPr/>
          <p:nvPr/>
        </p:nvSpPr>
        <p:spPr>
          <a:xfrm>
            <a:off x="8040052" y="5694140"/>
            <a:ext cx="1999964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-35" rIns="0" bIns="0" anchor="t" anchorCtr="0">
            <a:noAutofit/>
          </a:bodyPr>
          <a:lstStyle/>
          <a:p>
            <a:pPr algn="l"/>
            <a:r>
              <a:rPr lang="zh-CN" sz="1000" b="1" dirty="0">
                <a:solidFill>
                  <a:srgbClr val="1A1A1A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沙箱  ·  执行隔离</a:t>
            </a:r>
            <a:endParaRPr lang="zh-CN" sz="1000" b="1" dirty="0">
              <a:solidFill>
                <a:srgbClr val="1A1A1A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sp>
        <p:nvSpPr>
          <p:cNvPr id="82" name="Text 64"/>
          <p:cNvSpPr/>
          <p:nvPr/>
        </p:nvSpPr>
        <p:spPr>
          <a:xfrm>
            <a:off x="8040052" y="6023324"/>
            <a:ext cx="1999964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-35" rIns="0" bIns="0" anchor="t" anchorCtr="0">
            <a:noAutofit/>
          </a:bodyPr>
          <a:lstStyle/>
          <a:p>
            <a:pPr algn="l">
              <a:lnSpc>
                <a:spcPts val="1200"/>
              </a:lnSpc>
            </a:pPr>
            <a:r>
              <a:rPr lang="zh-CN" sz="1000" b="1" dirty="0">
                <a:solidFill>
                  <a:srgbClr val="1A1A1A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JCS  ·  RFC 8785 规范化</a:t>
            </a:r>
            <a:endParaRPr lang="zh-CN" sz="1000" b="1" dirty="0">
              <a:solidFill>
                <a:srgbClr val="1A1A1A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/>
          <p:nvPr>
            <p:ph type="subTitle" idx="1"/>
          </p:nvPr>
        </p:nvSpPr>
        <p:spPr>
          <a:xfrm>
            <a:off x="208502" y="284798"/>
            <a:ext cx="10736485" cy="375952"/>
          </a:xfrm>
          <a:prstGeom prst="rect">
            <a:avLst/>
          </a:prstGeom>
          <a:noFill/>
          <a:ln>
            <a:noFill/>
          </a:ln>
        </p:spPr>
        <p:txBody>
          <a:bodyPr wrap="none" lIns="0" tIns="-63517" rIns="0" bIns="0" anchor="t" anchorCtr="0">
            <a:noAutofit/>
          </a:bodyPr>
          <a:lstStyle/>
          <a:p>
            <a:pPr algn="l"/>
            <a:r>
              <a:rPr 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证据管道端到端：真实数据跑通八步</a:t>
            </a:r>
            <a:endParaRPr lang="zh-CN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93091" y="2784253"/>
            <a:ext cx="5405818" cy="1704975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2" name="p06-steps"/>
          <p:cNvGrpSpPr/>
          <p:nvPr/>
        </p:nvGrpSpPr>
        <p:grpSpPr>
          <a:xfrm>
            <a:off x="490156" y="895350"/>
            <a:ext cx="4803667" cy="4500150"/>
            <a:chOff x="490156" y="895350"/>
            <a:chExt cx="4803667" cy="4500150"/>
          </a:xfrm>
        </p:grpSpPr>
        <p:sp>
          <p:nvSpPr>
            <p:cNvPr id="5" name="TextBox 5"/>
            <p:cNvSpPr txBox="1"/>
            <p:nvPr/>
          </p:nvSpPr>
          <p:spPr>
            <a:xfrm>
              <a:off x="490538" y="895350"/>
              <a:ext cx="2294578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检索为固定快照，agent 编排在 M3 落地</a:t>
              </a:r>
              <a:endParaRPr lang="zh-CN" sz="940" dirty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90156" y="1263650"/>
              <a:ext cx="81010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步 1 schema</a:t>
              </a:r>
              <a:endParaRPr lang="zh-CN" sz="101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33538" y="1276350"/>
              <a:ext cx="2631461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ClaimCard 1.4.0 + ClaimRow 1.2.0 校验通过</a:t>
              </a:r>
              <a:endParaRPr lang="zh-CN" sz="94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90156" y="1825625"/>
              <a:ext cx="98142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步 2 execution</a:t>
              </a:r>
              <a:endParaRPr lang="zh-CN" sz="101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33538" y="1838325"/>
              <a:ext cx="2888374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exec_203fee8ec6748021 · completed · 审计可用</a:t>
              </a:r>
              <a:endParaRPr lang="zh-CN" sz="94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0156" y="2387600"/>
              <a:ext cx="86007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步 3 context</a:t>
              </a:r>
              <a:endParaRPr lang="zh-CN" sz="101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33538" y="2400300"/>
              <a:ext cx="3271225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MANIFEST#7 传递性：data_ref 指向数据条目且哈希一致</a:t>
              </a:r>
              <a:endParaRPr lang="zh-CN" sz="94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0156" y="2949575"/>
              <a:ext cx="78869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步 4 binding</a:t>
              </a:r>
              <a:endParaRPr lang="zh-CN" sz="101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33538" y="2962275"/>
              <a:ext cx="3508433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脚本 sha256:d36b43a4… / 产物 sha256:c9b51b95… 重算一致</a:t>
              </a:r>
              <a:endParaRPr lang="zh-CN" sz="94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90156" y="3511550"/>
              <a:ext cx="74586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步 5 values</a:t>
              </a:r>
              <a:endParaRPr lang="zh-CN" sz="101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33538" y="3524250"/>
              <a:ext cx="3419853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中位数 799 行（exact）/ 均值 2372.18（float_rel 1e-6）</a:t>
              </a:r>
              <a:endParaRPr lang="zh-CN" sz="94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0156" y="4073525"/>
              <a:ext cx="86721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步 6 citation</a:t>
              </a:r>
              <a:endParaRPr lang="zh-CN" sz="101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33538" y="4086225"/>
              <a:ext cx="2751803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DOI 10.17487/RFC8785 · 一手来源 · 快照已存</a:t>
              </a:r>
              <a:endParaRPr lang="zh-CN" sz="94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0156" y="4635500"/>
              <a:ext cx="94573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步 7 deviation</a:t>
              </a:r>
              <a:endParaRPr lang="zh-CN" sz="101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33538" y="4648200"/>
              <a:ext cx="1654581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非探索性声明，无需偏差注记</a:t>
              </a:r>
              <a:endParaRPr lang="zh-CN" sz="94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0156" y="5197475"/>
              <a:ext cx="574547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步 8 row</a:t>
              </a:r>
              <a:endParaRPr lang="zh-CN" sz="101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33538" y="5210175"/>
              <a:ext cx="3660285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row_57cebcd0b5d8c9a1 · seq 1 · 账本 3 行 · audit 0 findings</a:t>
              </a:r>
              <a:endParaRPr lang="zh-CN" sz="94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26" name="p06-num-1"/>
          <p:cNvGrpSpPr/>
          <p:nvPr/>
        </p:nvGrpSpPr>
        <p:grpSpPr>
          <a:xfrm>
            <a:off x="6667500" y="1047750"/>
            <a:ext cx="2571750" cy="1238250"/>
            <a:chOff x="6667500" y="1047750"/>
            <a:chExt cx="2571750" cy="1238250"/>
          </a:xfrm>
        </p:grpSpPr>
        <p:sp>
          <p:nvSpPr>
            <p:cNvPr id="23" name="Rectangle 23"/>
            <p:cNvSpPr/>
            <p:nvPr/>
          </p:nvSpPr>
          <p:spPr>
            <a:xfrm>
              <a:off x="6667500" y="1047750"/>
              <a:ext cx="2571750" cy="1238250"/>
            </a:xfrm>
            <a:prstGeom prst="roundRect">
              <a:avLst>
                <a:gd name="adj" fmla="val 9231"/>
              </a:avLst>
            </a:prstGeom>
            <a:solidFill>
              <a:srgbClr val="F7F7F8"/>
            </a:solidFill>
            <a:ln w="9525">
              <a:solidFill>
                <a:srgbClr val="D9D9D9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41236" y="1308100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48</a:t>
              </a:r>
              <a:endParaRPr lang="zh-CN" sz="33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53047" y="194310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项检查全绿</a:t>
              </a:r>
              <a:endParaRPr lang="zh-CN" sz="980" dirty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30" name="p06-num-2"/>
          <p:cNvGrpSpPr/>
          <p:nvPr/>
        </p:nvGrpSpPr>
        <p:grpSpPr>
          <a:xfrm>
            <a:off x="9382125" y="1047750"/>
            <a:ext cx="2571750" cy="1238250"/>
            <a:chOff x="9382125" y="1047750"/>
            <a:chExt cx="2571750" cy="1238250"/>
          </a:xfrm>
        </p:grpSpPr>
        <p:sp>
          <p:nvSpPr>
            <p:cNvPr id="27" name="Rectangle 27"/>
            <p:cNvSpPr/>
            <p:nvPr/>
          </p:nvSpPr>
          <p:spPr>
            <a:xfrm>
              <a:off x="9382125" y="1047750"/>
              <a:ext cx="2571750" cy="1238250"/>
            </a:xfrm>
            <a:prstGeom prst="roundRect">
              <a:avLst>
                <a:gd name="adj" fmla="val 9231"/>
              </a:avLst>
            </a:prstGeom>
            <a:solidFill>
              <a:srgbClr val="F7F7F8"/>
            </a:solidFill>
            <a:ln w="9525">
              <a:solidFill>
                <a:srgbClr val="D9D9D9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55861" y="1308100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20</a:t>
              </a:r>
              <a:endParaRPr lang="zh-CN" sz="33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567672" y="194310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条负例逐步拒绝</a:t>
              </a:r>
              <a:endParaRPr lang="zh-CN" sz="980" dirty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34" name="p06-num-3"/>
          <p:cNvGrpSpPr/>
          <p:nvPr/>
        </p:nvGrpSpPr>
        <p:grpSpPr>
          <a:xfrm>
            <a:off x="6667500" y="2476500"/>
            <a:ext cx="2571750" cy="1238250"/>
            <a:chOff x="6667500" y="2476500"/>
            <a:chExt cx="2571750" cy="1238250"/>
          </a:xfrm>
        </p:grpSpPr>
        <p:sp>
          <p:nvSpPr>
            <p:cNvPr id="31" name="Rectangle 31"/>
            <p:cNvSpPr/>
            <p:nvPr/>
          </p:nvSpPr>
          <p:spPr>
            <a:xfrm>
              <a:off x="6667500" y="2476500"/>
              <a:ext cx="2571750" cy="1238250"/>
            </a:xfrm>
            <a:prstGeom prst="roundRect">
              <a:avLst>
                <a:gd name="adj" fmla="val 9231"/>
              </a:avLst>
            </a:prstGeom>
            <a:solidFill>
              <a:srgbClr val="F7F7F8"/>
            </a:solidFill>
            <a:ln w="9525">
              <a:solidFill>
                <a:srgbClr val="D9D9D9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41236" y="273685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3</a:t>
              </a:r>
              <a:endParaRPr lang="zh-CN" sz="33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53047" y="3371850"/>
              <a:ext cx="125002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行 append-only 账本</a:t>
              </a:r>
              <a:endParaRPr lang="zh-CN" sz="980" dirty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38" name="p06-num-4"/>
          <p:cNvGrpSpPr/>
          <p:nvPr/>
        </p:nvGrpSpPr>
        <p:grpSpPr>
          <a:xfrm>
            <a:off x="9382125" y="2476500"/>
            <a:ext cx="2571750" cy="1238250"/>
            <a:chOff x="9382125" y="2476500"/>
            <a:chExt cx="2571750" cy="1238250"/>
          </a:xfrm>
        </p:grpSpPr>
        <p:sp>
          <p:nvSpPr>
            <p:cNvPr id="35" name="Rectangle 35"/>
            <p:cNvSpPr/>
            <p:nvPr/>
          </p:nvSpPr>
          <p:spPr>
            <a:xfrm>
              <a:off x="9382125" y="2476500"/>
              <a:ext cx="2571750" cy="1238250"/>
            </a:xfrm>
            <a:prstGeom prst="roundRect">
              <a:avLst>
                <a:gd name="adj" fmla="val 9231"/>
              </a:avLst>
            </a:prstGeom>
            <a:solidFill>
              <a:srgbClr val="F7F7F8"/>
            </a:solidFill>
            <a:ln w="9525">
              <a:solidFill>
                <a:srgbClr val="D9D9D9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555861" y="273685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0</a:t>
              </a:r>
              <a:endParaRPr lang="zh-CN" sz="33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567672" y="337185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条 audit findings</a:t>
              </a:r>
              <a:endParaRPr lang="zh-CN" sz="980" dirty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50" name="p06-attack"/>
          <p:cNvGrpSpPr/>
          <p:nvPr/>
        </p:nvGrpSpPr>
        <p:grpSpPr>
          <a:xfrm>
            <a:off x="6662166" y="4140200"/>
            <a:ext cx="4236317" cy="1663382"/>
            <a:chOff x="6662166" y="4140200"/>
            <a:chExt cx="4236317" cy="1663382"/>
          </a:xfrm>
        </p:grpSpPr>
        <p:sp>
          <p:nvSpPr>
            <p:cNvPr id="39" name="TextBox 39"/>
            <p:cNvSpPr txBox="1"/>
            <p:nvPr/>
          </p:nvSpPr>
          <p:spPr>
            <a:xfrm>
              <a:off x="6662166" y="4140200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攻击与恢复（同一账本的对抗测试）</a:t>
              </a:r>
              <a:endParaRPr lang="zh-CN" sz="105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19888" y="4476750"/>
              <a:ext cx="889236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1600" indent="-101600" algn="l">
                <a:buClr>
                  <a:srgbClr val="1D1D1B"/>
                </a:buClr>
                <a:buSzTx/>
                <a:buFontTx/>
                <a:buChar char="•"/>
              </a:pPr>
              <a:r>
                <a: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篡改 1 行账本</a:t>
              </a:r>
              <a:endParaRPr lang="zh-CN" sz="94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662988" y="4476750"/>
              <a:ext cx="1139337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TAMPER_DETECTED</a:t>
              </a:r>
              <a:endParaRPr lang="en-US" sz="94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19888" y="4762500"/>
              <a:ext cx="1104359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1600" indent="-101600" algn="l">
                <a:buClr>
                  <a:srgbClr val="1D1D1B"/>
                </a:buClr>
                <a:buSzTx/>
                <a:buFontTx/>
                <a:buChar char="•"/>
              </a:pPr>
              <a:r>
                <a: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删除 rawlog 事件</a:t>
              </a:r>
              <a:endParaRPr lang="zh-CN" sz="94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662988" y="4762500"/>
              <a:ext cx="1019002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PHANTOM_EVENT</a:t>
              </a:r>
              <a:endParaRPr lang="en-US" sz="94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19888" y="5048250"/>
              <a:ext cx="870255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1600" indent="-101600" algn="l">
                <a:buClr>
                  <a:srgbClr val="1D1D1B"/>
                </a:buClr>
                <a:buSzTx/>
                <a:buFontTx/>
                <a:buChar char="•"/>
              </a:pPr>
              <a:r>
                <a: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删除产物副本</a:t>
              </a:r>
              <a:endParaRPr lang="zh-CN" sz="94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662988" y="5048250"/>
              <a:ext cx="1112596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ARTIFACT_MISSING</a:t>
              </a:r>
              <a:endParaRPr lang="en-US" sz="94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19888" y="5334000"/>
              <a:ext cx="939853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1600" indent="-101600" algn="l">
                <a:buClr>
                  <a:srgbClr val="1D1D1B"/>
                </a:buClr>
                <a:buSzTx/>
                <a:buFontTx/>
                <a:buChar char="•"/>
              </a:pPr>
              <a:r>
                <a: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rawlog 后崩溃</a:t>
              </a:r>
              <a:endParaRPr lang="zh-CN" sz="94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662988" y="5334000"/>
              <a:ext cx="2235495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UNCOMMITTED_EVENT → recover 回滚</a:t>
              </a:r>
              <a:endParaRPr lang="zh-CN" sz="94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19888" y="5619750"/>
              <a:ext cx="743712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1600" indent="-101600" algn="l">
                <a:buClr>
                  <a:srgbClr val="1D1D1B"/>
                </a:buClr>
                <a:buSzTx/>
                <a:buFontTx/>
                <a:buChar char="•"/>
              </a:pPr>
              <a:r>
                <a: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账本后崩溃</a:t>
              </a:r>
              <a:endParaRPr lang="zh-CN" sz="94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662988" y="5619750"/>
              <a:ext cx="1420477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recover 补完，行数不变</a:t>
              </a:r>
              <a:endParaRPr lang="zh-CN" sz="94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/>
          <p:nvPr>
            <p:ph type="subTitle" idx="1"/>
          </p:nvPr>
        </p:nvSpPr>
        <p:spPr>
          <a:xfrm>
            <a:off x="208502" y="284798"/>
            <a:ext cx="10736485" cy="375952"/>
          </a:xfrm>
          <a:prstGeom prst="rect">
            <a:avLst/>
          </a:prstGeom>
          <a:noFill/>
          <a:ln>
            <a:noFill/>
          </a:ln>
        </p:spPr>
        <p:txBody>
          <a:bodyPr wrap="none" lIns="0" tIns="-63517" rIns="0" bIns="0" anchor="t" anchorCtr="0">
            <a:noAutofit/>
          </a:bodyPr>
          <a:lstStyle/>
          <a:p>
            <a:pPr algn="l"/>
            <a:r>
              <a:rPr 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四维自评：对照评分标准</a:t>
            </a:r>
            <a:endParaRPr lang="zh-CN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93091" y="2784253"/>
            <a:ext cx="5405818" cy="1704975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" name="p07-dim-1"/>
          <p:cNvGrpSpPr/>
          <p:nvPr/>
        </p:nvGrpSpPr>
        <p:grpSpPr>
          <a:xfrm>
            <a:off x="381000" y="914400"/>
            <a:ext cx="5715000" cy="2362200"/>
            <a:chOff x="381000" y="914400"/>
            <a:chExt cx="5715000" cy="2362200"/>
          </a:xfrm>
        </p:grpSpPr>
        <p:sp>
          <p:nvSpPr>
            <p:cNvPr id="5" name="Rectangle 5"/>
            <p:cNvSpPr/>
            <p:nvPr/>
          </p:nvSpPr>
          <p:spPr>
            <a:xfrm>
              <a:off x="381000" y="914400"/>
              <a:ext cx="5715000" cy="2362200"/>
            </a:xfrm>
            <a:prstGeom prst="roundRect">
              <a:avLst>
                <a:gd name="adj" fmla="val 4839"/>
              </a:avLst>
            </a:prstGeom>
            <a:solidFill>
              <a:srgbClr val="F7F7F8"/>
            </a:solidFill>
            <a:ln w="9525">
              <a:solidFill>
                <a:srgbClr val="D9D9D9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21030" y="115570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创新性</a:t>
              </a:r>
              <a:endParaRPr lang="zh-CN" sz="1500" b="1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941570" y="1073150"/>
              <a:ext cx="73844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4 / 5</a:t>
              </a:r>
              <a:endParaRPr lang="zh-CN" sz="225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23697" y="1625600"/>
              <a:ext cx="2729357" cy="610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lnSpc>
                  <a:spcPts val="1650"/>
                </a:lnSpc>
                <a:buClr>
                  <a:srgbClr val="5B5B5B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首创口径：把「可拒绝」写成冻结错误码与规则</a:t>
              </a:r>
              <a:endParaRPr lang="zh-CN" sz="980" dirty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106045" indent="-106045" algn="l">
                <a:lnSpc>
                  <a:spcPts val="1650"/>
                </a:lnSpc>
                <a:buClr>
                  <a:srgbClr val="5B5B5B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20 类错误码 + 六道门覆盖数值与引用两侧</a:t>
              </a:r>
              <a:endParaRPr lang="zh-CN" sz="980" dirty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106045" indent="-106045" algn="l">
                <a:lnSpc>
                  <a:spcPts val="1650"/>
                </a:lnSpc>
                <a:buClr>
                  <a:srgbClr val="5B5B5B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RFC 8785 规范化，35 项官方向量自证</a:t>
              </a:r>
              <a:endParaRPr lang="zh-CN" sz="980" dirty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14" name="p07-dim-2"/>
          <p:cNvGrpSpPr/>
          <p:nvPr/>
        </p:nvGrpSpPr>
        <p:grpSpPr>
          <a:xfrm>
            <a:off x="6191250" y="914400"/>
            <a:ext cx="5715000" cy="2362200"/>
            <a:chOff x="6191250" y="914400"/>
            <a:chExt cx="5715000" cy="2362200"/>
          </a:xfrm>
        </p:grpSpPr>
        <p:sp>
          <p:nvSpPr>
            <p:cNvPr id="10" name="Rectangle 10"/>
            <p:cNvSpPr/>
            <p:nvPr/>
          </p:nvSpPr>
          <p:spPr>
            <a:xfrm>
              <a:off x="6191250" y="914400"/>
              <a:ext cx="5715000" cy="2362200"/>
            </a:xfrm>
            <a:prstGeom prst="roundRect">
              <a:avLst>
                <a:gd name="adj" fmla="val 4839"/>
              </a:avLst>
            </a:prstGeom>
            <a:solidFill>
              <a:srgbClr val="F7F7F8"/>
            </a:solidFill>
            <a:ln w="9525">
              <a:solidFill>
                <a:srgbClr val="D9D9D9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431280" y="115570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实用性</a:t>
              </a:r>
              <a:endParaRPr lang="zh-CN" sz="1500" b="1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751820" y="1073150"/>
              <a:ext cx="73844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4 / 5</a:t>
              </a:r>
              <a:endParaRPr lang="zh-CN" sz="225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33947" y="1625600"/>
              <a:ext cx="2480437" cy="610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lnSpc>
                  <a:spcPts val="1650"/>
                </a:lnSpc>
                <a:buClr>
                  <a:srgbClr val="5B5B5B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投稿前自检：引用、数值、快照逐条可核对</a:t>
              </a:r>
              <a:endParaRPr lang="zh-CN" sz="980" dirty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106045" indent="-106045" algn="l">
                <a:lnSpc>
                  <a:spcPts val="1650"/>
                </a:lnSpc>
                <a:buClr>
                  <a:srgbClr val="5B5B5B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已有可运行原型：八步链 76 项行为验收</a:t>
              </a:r>
              <a:endParaRPr lang="zh-CN" sz="980" dirty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106045" indent="-106045" algn="l">
                <a:lnSpc>
                  <a:spcPts val="1650"/>
                </a:lnSpc>
                <a:buClr>
                  <a:srgbClr val="5B5B5B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真实数据端到端：48 项检查、20 条负例</a:t>
              </a:r>
              <a:endParaRPr lang="zh-CN" sz="980" dirty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19" name="p07-dim-3"/>
          <p:cNvGrpSpPr/>
          <p:nvPr/>
        </p:nvGrpSpPr>
        <p:grpSpPr>
          <a:xfrm>
            <a:off x="381000" y="3467100"/>
            <a:ext cx="5715000" cy="2362200"/>
            <a:chOff x="381000" y="3467100"/>
            <a:chExt cx="5715000" cy="2362200"/>
          </a:xfrm>
        </p:grpSpPr>
        <p:sp>
          <p:nvSpPr>
            <p:cNvPr id="15" name="Rectangle 15"/>
            <p:cNvSpPr/>
            <p:nvPr/>
          </p:nvSpPr>
          <p:spPr>
            <a:xfrm>
              <a:off x="381000" y="3467100"/>
              <a:ext cx="5715000" cy="2362200"/>
            </a:xfrm>
            <a:prstGeom prst="roundRect">
              <a:avLst>
                <a:gd name="adj" fmla="val 4839"/>
              </a:avLst>
            </a:prstGeom>
            <a:solidFill>
              <a:srgbClr val="F7F7F8"/>
            </a:solidFill>
            <a:ln w="9525">
              <a:solidFill>
                <a:srgbClr val="D9D9D9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1030" y="37084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技术可行性</a:t>
              </a:r>
              <a:endParaRPr lang="zh-CN" sz="1500" b="1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41570" y="3625850"/>
              <a:ext cx="73844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4 / 5</a:t>
              </a:r>
              <a:endParaRPr lang="zh-CN" sz="225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3697" y="4178300"/>
              <a:ext cx="2754249" cy="610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lnSpc>
                  <a:spcPts val="1650"/>
                </a:lnSpc>
                <a:buClr>
                  <a:srgbClr val="5B5B5B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七道门禁全绿，冻结前后一致性由机检守护</a:t>
              </a:r>
              <a:endParaRPr lang="zh-CN" sz="980" dirty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106045" indent="-106045" algn="l">
                <a:lnSpc>
                  <a:spcPts val="1650"/>
                </a:lnSpc>
                <a:buClr>
                  <a:srgbClr val="5B5B5B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接口按 MCP / Rail 扩展点定型，不改 harness</a:t>
              </a:r>
              <a:endParaRPr lang="zh-CN" sz="980" dirty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106045" indent="-106045" algn="l">
                <a:lnSpc>
                  <a:spcPts val="1650"/>
                </a:lnSpc>
                <a:buClr>
                  <a:srgbClr val="5B5B5B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依赖极少：仅 Python 3.12 + jsonschema 4.26</a:t>
              </a:r>
              <a:endParaRPr lang="zh-CN" sz="980" dirty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24" name="p07-dim-4"/>
          <p:cNvGrpSpPr/>
          <p:nvPr/>
        </p:nvGrpSpPr>
        <p:grpSpPr>
          <a:xfrm>
            <a:off x="6191250" y="3467100"/>
            <a:ext cx="5715000" cy="2362200"/>
            <a:chOff x="6191250" y="3467100"/>
            <a:chExt cx="5715000" cy="2362200"/>
          </a:xfrm>
        </p:grpSpPr>
        <p:sp>
          <p:nvSpPr>
            <p:cNvPr id="20" name="Rectangle 20"/>
            <p:cNvSpPr/>
            <p:nvPr/>
          </p:nvSpPr>
          <p:spPr>
            <a:xfrm>
              <a:off x="6191250" y="3467100"/>
              <a:ext cx="5715000" cy="2362200"/>
            </a:xfrm>
            <a:prstGeom prst="roundRect">
              <a:avLst>
                <a:gd name="adj" fmla="val 4839"/>
              </a:avLst>
            </a:prstGeom>
            <a:solidFill>
              <a:srgbClr val="F7F7F8"/>
            </a:solidFill>
            <a:ln w="9525">
              <a:solidFill>
                <a:srgbClr val="D9D9D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31280" y="37084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场景价值</a:t>
              </a:r>
              <a:endParaRPr lang="zh-CN" sz="1500" b="1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751820" y="3625850"/>
              <a:ext cx="73844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4 / 5</a:t>
              </a:r>
              <a:endParaRPr lang="zh-CN" sz="225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33947" y="4178300"/>
              <a:ext cx="2604897" cy="610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6045" indent="-106045" algn="l">
                <a:lnSpc>
                  <a:spcPts val="1650"/>
                </a:lnSpc>
                <a:buClr>
                  <a:srgbClr val="5B5B5B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科研赛道：作者、导师、审稿人共用一份证据</a:t>
              </a:r>
              <a:endParaRPr lang="zh-CN" sz="980" dirty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106045" indent="-106045" algn="l">
                <a:lnSpc>
                  <a:spcPts val="1650"/>
                </a:lnSpc>
                <a:buClr>
                  <a:srgbClr val="5B5B5B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复现成本从周级降到分钟级（一条命令）</a:t>
              </a:r>
              <a:endParaRPr lang="zh-CN" sz="980" dirty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106045" indent="-106045" algn="l">
                <a:lnSpc>
                  <a:spcPts val="1650"/>
                </a:lnSpc>
                <a:buClr>
                  <a:srgbClr val="5B5B5B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同一证据链内核可延展到办公与 Coding</a:t>
              </a:r>
              <a:endParaRPr lang="zh-CN" sz="980" dirty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26" name="p07-note"/>
          <p:cNvGrpSpPr/>
          <p:nvPr/>
        </p:nvGrpSpPr>
        <p:grpSpPr>
          <a:xfrm>
            <a:off x="414338" y="6127750"/>
            <a:ext cx="4542920" cy="169069"/>
            <a:chOff x="414338" y="6127750"/>
            <a:chExt cx="4542920" cy="169069"/>
          </a:xfrm>
        </p:grpSpPr>
        <p:sp>
          <p:nvSpPr>
            <p:cNvPr id="25" name="TextBox 25"/>
            <p:cNvSpPr txBox="1"/>
            <p:nvPr/>
          </p:nvSpPr>
          <p:spPr>
            <a:xfrm>
              <a:off x="414338" y="6127750"/>
              <a:ext cx="454292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评分口径：对照赛题四维标准；每项保留 1 分的理由是生产件与评测规模仍待 M3 扩充。</a:t>
              </a:r>
              <a:endParaRPr lang="zh-CN" sz="860" dirty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1"/>
          <p:cNvSpPr/>
          <p:nvPr/>
        </p:nvSpPr>
        <p:spPr>
          <a:xfrm>
            <a:off x="345376" y="249174"/>
            <a:ext cx="10736485" cy="375952"/>
          </a:xfrm>
          <a:prstGeom prst="rect">
            <a:avLst/>
          </a:prstGeom>
          <a:noFill/>
          <a:ln>
            <a:noFill/>
          </a:ln>
        </p:spPr>
        <p:txBody>
          <a:bodyPr wrap="none" lIns="0" tIns="-63488" rIns="0" bIns="0" anchor="t" anchorCtr="0">
            <a:noAutofit/>
          </a:bodyPr>
          <a:lstStyle/>
          <a:p>
            <a:pPr algn="l"/>
            <a:r>
              <a:rPr lang="zh-CN" sz="3200" b="1" dirty="0">
                <a:solidFill>
                  <a:srgbClr val="C00000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技术可行性：四层判据与七道门禁</a:t>
            </a:r>
            <a:endParaRPr lang="zh-CN" sz="3200" b="1" dirty="0">
              <a:solidFill>
                <a:srgbClr val="C00000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cxnSp>
        <p:nvCxnSpPr>
          <p:cNvPr id="4" name="直接连接符 3"/>
          <p:cNvCxnSpPr>
            <a:stCxn id="6" idx="1"/>
            <a:endCxn id="6" idx="3"/>
          </p:cNvCxnSpPr>
          <p:nvPr/>
        </p:nvCxnSpPr>
        <p:spPr>
          <a:xfrm>
            <a:off x="88900" y="3607496"/>
            <a:ext cx="119507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5795376" y="3623415"/>
            <a:ext cx="0" cy="273928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/>
          <p:cNvSpPr/>
          <p:nvPr/>
        </p:nvSpPr>
        <p:spPr>
          <a:xfrm>
            <a:off x="88900" y="889348"/>
            <a:ext cx="11950700" cy="5436296"/>
          </a:xfrm>
          <a:prstGeom prst="roundRect">
            <a:avLst>
              <a:gd name="adj" fmla="val 8257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/>
          <p:nvPr/>
        </p:nvSpPr>
        <p:spPr>
          <a:xfrm>
            <a:off x="415671" y="3763423"/>
            <a:ext cx="1901285" cy="342900"/>
          </a:xfrm>
          <a:prstGeom prst="rect">
            <a:avLst/>
          </a:prstGeom>
          <a:noFill/>
          <a:ln>
            <a:noFill/>
          </a:ln>
        </p:spPr>
        <p:txBody>
          <a:bodyPr wrap="none" lIns="95" tIns="34279" rIns="0" bIns="0" anchor="t" anchorCtr="0">
            <a:noAutofit/>
          </a:bodyPr>
          <a:lstStyle/>
          <a:p>
            <a:pPr algn="ctr"/>
            <a:r>
              <a:rPr 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为什么可信</a:t>
            </a:r>
            <a:r>
              <a:rPr 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（机检）</a:t>
            </a:r>
            <a:endParaRPr lang="zh-CN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/>
          <p:nvPr/>
        </p:nvSpPr>
        <p:spPr>
          <a:xfrm>
            <a:off x="300609" y="1023556"/>
            <a:ext cx="2414111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34337" rIns="95" bIns="0" anchor="t" anchorCtr="0">
            <a:noAutofit/>
          </a:bodyPr>
          <a:lstStyle/>
          <a:p>
            <a:pPr algn="ctr"/>
            <a:r>
              <a:rPr 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四层判据</a:t>
            </a:r>
            <a:r>
              <a:rPr 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（G1–G4）</a:t>
            </a:r>
            <a:endParaRPr lang="zh-CN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/>
          <p:nvPr/>
        </p:nvSpPr>
        <p:spPr>
          <a:xfrm>
            <a:off x="5940362" y="3763423"/>
            <a:ext cx="1984724" cy="342900"/>
          </a:xfrm>
          <a:prstGeom prst="rect">
            <a:avLst/>
          </a:prstGeom>
          <a:noFill/>
          <a:ln>
            <a:noFill/>
          </a:ln>
        </p:spPr>
        <p:txBody>
          <a:bodyPr wrap="none" lIns="95" tIns="34279" rIns="0" bIns="0" anchor="t" anchorCtr="0">
            <a:noAutofit/>
          </a:bodyPr>
          <a:lstStyle/>
          <a:p>
            <a:pPr algn="ctr"/>
            <a:r>
              <a:rPr 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复跑方式</a:t>
            </a:r>
            <a:r>
              <a:rPr 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（一条命令）</a:t>
            </a:r>
            <a:endParaRPr lang="zh-CN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096000" y="4729353"/>
            <a:ext cx="5405818" cy="873919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13" name="矩形 12"/>
          <p:cNvSpPr/>
          <p:nvPr/>
        </p:nvSpPr>
        <p:spPr>
          <a:xfrm>
            <a:off x="300609" y="4729353"/>
            <a:ext cx="5405818" cy="456533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14" name="矩形 13"/>
          <p:cNvSpPr/>
          <p:nvPr/>
        </p:nvSpPr>
        <p:spPr>
          <a:xfrm>
            <a:off x="345376" y="1969389"/>
            <a:ext cx="5405818" cy="456533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grpSp>
        <p:nvGrpSpPr>
          <p:cNvPr id="31" name="p08-layers"/>
          <p:cNvGrpSpPr/>
          <p:nvPr/>
        </p:nvGrpSpPr>
        <p:grpSpPr>
          <a:xfrm>
            <a:off x="451485" y="1346200"/>
            <a:ext cx="4164783" cy="2285682"/>
            <a:chOff x="451485" y="1346200"/>
            <a:chExt cx="4164783" cy="2285682"/>
          </a:xfrm>
        </p:grpSpPr>
        <p:grpSp>
          <p:nvGrpSpPr>
            <p:cNvPr id="21" name="p08-layer-1"/>
            <p:cNvGrpSpPr/>
            <p:nvPr/>
          </p:nvGrpSpPr>
          <p:grpSpPr>
            <a:xfrm>
              <a:off x="451485" y="1346200"/>
              <a:ext cx="4164783" cy="399732"/>
              <a:chOff x="451485" y="1346200"/>
              <a:chExt cx="4164783" cy="399732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451485" y="1346200"/>
                <a:ext cx="140318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G1 语义层 · 42 断言</a:t>
                </a:r>
                <a:endParaRPr lang="zh-CN" sz="112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52438" y="1562100"/>
                <a:ext cx="4163830" cy="183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40" dirty="0">
                    <a:solidFill>
                      <a:srgbClr val="1D1D1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六件 schema 通过 meta-schema、$ref 可达、C4 白名单、六件实例夹具</a:t>
                </a:r>
                <a:endPara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p:grpSp>
        <p:grpSp>
          <p:nvGrpSpPr>
            <p:cNvPr id="24" name="p08-layer-2"/>
            <p:cNvGrpSpPr/>
            <p:nvPr/>
          </p:nvGrpSpPr>
          <p:grpSpPr>
            <a:xfrm>
              <a:off x="451485" y="1974850"/>
              <a:ext cx="3585392" cy="399732"/>
              <a:chOff x="451485" y="1974850"/>
              <a:chExt cx="3585392" cy="399732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451485" y="1974850"/>
                <a:ext cx="140318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G2 规则层 · 23 断言</a:t>
                </a:r>
                <a:endParaRPr lang="zh-CN" sz="112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52438" y="2190750"/>
                <a:ext cx="3584439" cy="183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40" dirty="0">
                    <a:solidFill>
                      <a:srgbClr val="1D1D1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ClaimCard 1.4.0 三条新规则 + 角色词汇（十一角色同源同序）</a:t>
                </a:r>
                <a:endPara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p08-layer-3"/>
            <p:cNvGrpSpPr/>
            <p:nvPr/>
          </p:nvGrpSpPr>
          <p:grpSpPr>
            <a:xfrm>
              <a:off x="451485" y="2603500"/>
              <a:ext cx="3672579" cy="399732"/>
              <a:chOff x="451485" y="2603500"/>
              <a:chExt cx="3672579" cy="399732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451485" y="2603500"/>
                <a:ext cx="146688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G3 一致性层 · 7 断言</a:t>
                </a:r>
                <a:endParaRPr lang="zh-CN" sz="112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52438" y="2819400"/>
                <a:ext cx="3671626" cy="183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40" dirty="0">
                    <a:solidFill>
                      <a:srgbClr val="1D1D1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20 个八步链错误码唯一归属、全大写、链层契约 L1–L5 登记完整</a:t>
                </a:r>
                <a:endPara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p:grpSp>
        <p:grpSp>
          <p:nvGrpSpPr>
            <p:cNvPr id="30" name="p08-layer-4"/>
            <p:cNvGrpSpPr/>
            <p:nvPr/>
          </p:nvGrpSpPr>
          <p:grpSpPr>
            <a:xfrm>
              <a:off x="451485" y="3232150"/>
              <a:ext cx="3009781" cy="399732"/>
              <a:chOff x="451485" y="3232150"/>
              <a:chExt cx="3009781" cy="399732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451485" y="3232150"/>
                <a:ext cx="155395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G4 确定性层 · 10 断言</a:t>
                </a:r>
                <a:endParaRPr lang="zh-CN" sz="112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52438" y="3448050"/>
                <a:ext cx="3008828" cy="183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40" dirty="0">
                    <a:solidFill>
                      <a:srgbClr val="1D1D1B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RFC 8785 官方向量与 row_id 派生：同输入必得同 id</a:t>
                </a:r>
                <a:endPara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33" name="p08-gates"/>
          <p:cNvGrpSpPr/>
          <p:nvPr/>
        </p:nvGrpSpPr>
        <p:grpSpPr>
          <a:xfrm>
            <a:off x="452438" y="4451350"/>
            <a:ext cx="4128135" cy="1098232"/>
            <a:chOff x="452438" y="4451350"/>
            <a:chExt cx="4128135" cy="1098232"/>
          </a:xfrm>
        </p:grpSpPr>
        <p:sp>
          <p:nvSpPr>
            <p:cNvPr id="32" name="TextBox 32"/>
            <p:cNvSpPr txBox="1"/>
            <p:nvPr/>
          </p:nvSpPr>
          <p:spPr>
            <a:xfrm>
              <a:off x="452438" y="4451350"/>
              <a:ext cx="4128135" cy="10982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jcs 35 向量 · gen_composites 2 件 · validate_freeze 82 断言</a:t>
              </a:r>
              <a:br>
                <a: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</a:br>
              <a:r>
                <a:rPr lang="en-US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check_cross_refs 18 · check_docs_consistency 73 · m1_acceptance 76</a:t>
              </a:r>
              <a:br>
                <a:rPr lang="en-US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</a:br>
              <a:r>
                <a: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run_e2e 48 · 七道门禁全绿才允许冻结与发布</a:t>
              </a:r>
              <a:br>
                <a: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</a:br>
              <a:r>
                <a: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版本对偶：文档声明 == schema 文件 == 内嵌引用版本</a:t>
              </a:r>
              <a:br>
                <a: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</a:br>
              <a:r>
                <a: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单一事实源：错误码 freeze_codes.py、视图 gen_docs_views.py</a:t>
              </a:r>
              <a:endParaRPr lang="zh-CN" sz="94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35" name="p08-cmd"/>
          <p:cNvGrpSpPr/>
          <p:nvPr/>
        </p:nvGrpSpPr>
        <p:grpSpPr>
          <a:xfrm>
            <a:off x="6262688" y="4451350"/>
            <a:ext cx="3032760" cy="862012"/>
            <a:chOff x="6262688" y="4451350"/>
            <a:chExt cx="3032760" cy="862012"/>
          </a:xfrm>
        </p:grpSpPr>
        <p:sp>
          <p:nvSpPr>
            <p:cNvPr id="34" name="TextBox 34"/>
            <p:cNvSpPr txBox="1"/>
            <p:nvPr/>
          </p:nvSpPr>
          <p:spPr>
            <a:xfrm>
              <a:off x="6262688" y="4451350"/>
              <a:ext cx="3032760" cy="8620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90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$ bash run_gates.sh      # 七道门禁，退出码 0/1/2</a:t>
              </a:r>
              <a:br>
                <a:rPr lang="zh-CN" sz="90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</a:br>
              <a:r>
                <a:rPr lang="zh-CN" sz="90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$ python demo/run_e2e.py # 可选：只跑端到端（48 项检查）</a:t>
              </a:r>
              <a:br>
                <a:rPr lang="zh-CN" sz="90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</a:br>
              <a:r>
                <a:rPr lang="zh-CN" sz="90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环境：Python 3.12+ · jsonschema 4.26.0 · git 2.5x</a:t>
              </a:r>
              <a:br>
                <a:rPr lang="zh-CN" sz="90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</a:br>
              <a:r>
                <a:rPr lang="zh-CN" sz="90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离线可跑：RFC 8785 快照与 git-log 导出随仓库提交</a:t>
              </a:r>
              <a:endParaRPr lang="zh-CN" sz="9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1"/>
          <p:cNvSpPr/>
          <p:nvPr/>
        </p:nvSpPr>
        <p:spPr>
          <a:xfrm>
            <a:off x="345376" y="249174"/>
            <a:ext cx="10736485" cy="375952"/>
          </a:xfrm>
          <a:prstGeom prst="rect">
            <a:avLst/>
          </a:prstGeom>
          <a:noFill/>
          <a:ln>
            <a:noFill/>
          </a:ln>
        </p:spPr>
        <p:txBody>
          <a:bodyPr wrap="none" lIns="0" tIns="-63488" rIns="0" bIns="0" anchor="t" anchorCtr="0">
            <a:noAutofit/>
          </a:bodyPr>
          <a:lstStyle/>
          <a:p>
            <a:pPr algn="l"/>
            <a:r>
              <a:rPr lang="zh-CN" sz="3200" b="1" dirty="0">
                <a:solidFill>
                  <a:srgbClr val="C00000"/>
                </a:solidFill>
                <a:latin typeface="Calibri" panose="020F0502020204030204"/>
                <a:ea typeface="微软雅黑" panose="020B0503020204020204" pitchFamily="34" charset="-122"/>
                <a:cs typeface="Calibri" panose="020F0502020204030204"/>
              </a:rPr>
              <a:t>落地路线与所需资源</a:t>
            </a:r>
            <a:endParaRPr lang="zh-CN" sz="3200" b="1" dirty="0">
              <a:solidFill>
                <a:srgbClr val="C00000"/>
              </a:solidFill>
              <a:latin typeface="Calibri" panose="020F0502020204030204"/>
              <a:ea typeface="微软雅黑" panose="020B0503020204020204" pitchFamily="34" charset="-122"/>
              <a:cs typeface="Calibri" panose="020F0502020204030204"/>
            </a:endParaRPr>
          </a:p>
        </p:txBody>
      </p:sp>
      <p:cxnSp>
        <p:nvCxnSpPr>
          <p:cNvPr id="4" name="直接连接符 3"/>
          <p:cNvCxnSpPr>
            <a:stCxn id="6" idx="1"/>
            <a:endCxn id="6" idx="3"/>
          </p:cNvCxnSpPr>
          <p:nvPr/>
        </p:nvCxnSpPr>
        <p:spPr>
          <a:xfrm>
            <a:off x="88900" y="3607496"/>
            <a:ext cx="119507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5795376" y="3623415"/>
            <a:ext cx="0" cy="2739285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/>
          <p:cNvSpPr/>
          <p:nvPr/>
        </p:nvSpPr>
        <p:spPr>
          <a:xfrm>
            <a:off x="88900" y="889348"/>
            <a:ext cx="11950700" cy="5436296"/>
          </a:xfrm>
          <a:prstGeom prst="roundRect">
            <a:avLst>
              <a:gd name="adj" fmla="val 8257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/>
          <p:nvPr/>
        </p:nvSpPr>
        <p:spPr>
          <a:xfrm>
            <a:off x="415671" y="3763423"/>
            <a:ext cx="1901285" cy="342900"/>
          </a:xfrm>
          <a:prstGeom prst="rect">
            <a:avLst/>
          </a:prstGeom>
          <a:noFill/>
          <a:ln>
            <a:noFill/>
          </a:ln>
        </p:spPr>
        <p:txBody>
          <a:bodyPr wrap="none" lIns="95" tIns="34279" rIns="0" bIns="0" anchor="t" anchorCtr="0">
            <a:noAutofit/>
          </a:bodyPr>
          <a:lstStyle/>
          <a:p>
            <a:pPr indent="0" algn="l" fontAlgn="auto"/>
            <a:r>
              <a:rPr 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为什么可控</a:t>
            </a:r>
            <a:endParaRPr 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/>
          <p:nvPr/>
        </p:nvSpPr>
        <p:spPr>
          <a:xfrm>
            <a:off x="300609" y="1023556"/>
            <a:ext cx="2414111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34337" rIns="95" bIns="0" anchor="t" anchorCtr="0">
            <a:noAutofit/>
          </a:bodyPr>
          <a:lstStyle/>
          <a:p>
            <a:pPr indent="0" algn="l" fontAlgn="auto"/>
            <a:r>
              <a:rPr 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三步走</a:t>
            </a:r>
            <a:r>
              <a:rPr 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（进展）</a:t>
            </a:r>
            <a:endParaRPr lang="zh-CN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/>
          <p:nvPr/>
        </p:nvSpPr>
        <p:spPr>
          <a:xfrm>
            <a:off x="5940362" y="3763423"/>
            <a:ext cx="1984724" cy="342900"/>
          </a:xfrm>
          <a:prstGeom prst="rect">
            <a:avLst/>
          </a:prstGeom>
          <a:noFill/>
          <a:ln>
            <a:noFill/>
          </a:ln>
        </p:spPr>
        <p:txBody>
          <a:bodyPr wrap="none" lIns="95" tIns="34279" rIns="0" bIns="0" anchor="t" anchorCtr="0">
            <a:noAutofit/>
          </a:bodyPr>
          <a:lstStyle/>
          <a:p>
            <a:pPr indent="0" algn="l" fontAlgn="auto"/>
            <a:r>
              <a:rPr 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所需资源与 Demo</a:t>
            </a:r>
            <a:endParaRPr 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096000" y="4729353"/>
            <a:ext cx="5405818" cy="873919"/>
          </a:xfrm>
          <a:prstGeom prst="rect">
            <a:avLst/>
          </a:prstGeom>
          <a:noFill/>
          <a:ln>
            <a:noFill/>
          </a:ln>
        </p:spPr>
      </p:sp>
      <p:sp>
        <p:nvSpPr>
          <p:cNvPr id="13" name="矩形 12"/>
          <p:cNvSpPr/>
          <p:nvPr/>
        </p:nvSpPr>
        <p:spPr>
          <a:xfrm>
            <a:off x="300609" y="4729353"/>
            <a:ext cx="5405818" cy="456533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矩形 13"/>
          <p:cNvSpPr/>
          <p:nvPr/>
        </p:nvSpPr>
        <p:spPr>
          <a:xfrm>
            <a:off x="345376" y="1969389"/>
            <a:ext cx="5405818" cy="456533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1" name="p09-route-1"/>
          <p:cNvGrpSpPr/>
          <p:nvPr/>
        </p:nvGrpSpPr>
        <p:grpSpPr>
          <a:xfrm>
            <a:off x="451104" y="1485900"/>
            <a:ext cx="2022539" cy="588962"/>
            <a:chOff x="451104" y="1485900"/>
            <a:chExt cx="2022539" cy="588962"/>
          </a:xfrm>
        </p:grpSpPr>
        <p:sp>
          <p:nvSpPr>
            <p:cNvPr id="19" name="TextBox 19"/>
            <p:cNvSpPr txBox="1"/>
            <p:nvPr/>
          </p:nvSpPr>
          <p:spPr>
            <a:xfrm>
              <a:off x="451104" y="1485900"/>
              <a:ext cx="7835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M1 已完成</a:t>
              </a:r>
              <a:endParaRPr 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2438" y="1727200"/>
              <a:ext cx="2021205" cy="3476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八步链 + 六道门 + 事件签发 + WAL 恢复</a:t>
              </a:r>
              <a:br>
                <a:rPr lang="zh-CN" sz="90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</a:br>
              <a:r>
                <a:rPr lang="zh-CN" sz="90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76 项行为验收 · 48 项端到端检查全绿</a:t>
              </a:r>
              <a:endParaRPr lang="zh-CN" sz="9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24" name="p09-route-2"/>
          <p:cNvGrpSpPr/>
          <p:nvPr/>
        </p:nvGrpSpPr>
        <p:grpSpPr>
          <a:xfrm>
            <a:off x="451104" y="2190750"/>
            <a:ext cx="2531174" cy="588962"/>
            <a:chOff x="451104" y="2190750"/>
            <a:chExt cx="2531174" cy="588962"/>
          </a:xfrm>
        </p:grpSpPr>
        <p:sp>
          <p:nvSpPr>
            <p:cNvPr id="22" name="TextBox 22"/>
            <p:cNvSpPr txBox="1"/>
            <p:nvPr/>
          </p:nvSpPr>
          <p:spPr>
            <a:xfrm>
              <a:off x="451104" y="2190750"/>
              <a:ext cx="7835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M3 下一步</a:t>
              </a:r>
              <a:endParaRPr 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2438" y="2432050"/>
              <a:ext cx="2529840" cy="3476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并发写仲裁 · 远端对象存储 · ledger-mcp 服务化</a:t>
              </a:r>
              <a:br>
                <a:rPr lang="zh-CN" sz="90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</a:br>
              <a:r>
                <a:rPr lang="zh-CN" sz="90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fail-closed 与拒绝日志 · 策略热更新</a:t>
              </a:r>
              <a:endParaRPr lang="zh-CN" sz="9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27" name="p09-route-3"/>
          <p:cNvGrpSpPr/>
          <p:nvPr/>
        </p:nvGrpSpPr>
        <p:grpSpPr>
          <a:xfrm>
            <a:off x="451104" y="2895600"/>
            <a:ext cx="2805494" cy="588962"/>
            <a:chOff x="451104" y="2895600"/>
            <a:chExt cx="2805494" cy="588962"/>
          </a:xfrm>
        </p:grpSpPr>
        <p:sp>
          <p:nvSpPr>
            <p:cNvPr id="25" name="TextBox 25"/>
            <p:cNvSpPr txBox="1"/>
            <p:nvPr/>
          </p:nvSpPr>
          <p:spPr>
            <a:xfrm>
              <a:off x="451104" y="2895600"/>
              <a:ext cx="9451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M4 集成上线</a:t>
              </a:r>
              <a:endParaRPr 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2438" y="3136900"/>
              <a:ext cx="2804160" cy="3476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rail 扩展装进 extensions/ · MCP 注册进 config.yaml</a:t>
              </a:r>
              <a:br>
                <a:rPr lang="zh-CN" sz="90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</a:br>
              <a:r>
                <a:rPr lang="zh-CN" sz="90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Auditor 独立进程对账与告警</a:t>
              </a:r>
              <a:endParaRPr lang="zh-CN" sz="9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29" name="p09-adv"/>
          <p:cNvGrpSpPr/>
          <p:nvPr/>
        </p:nvGrpSpPr>
        <p:grpSpPr>
          <a:xfrm>
            <a:off x="452438" y="4451350"/>
            <a:ext cx="3399917" cy="641032"/>
            <a:chOff x="452438" y="4451350"/>
            <a:chExt cx="3399917" cy="641032"/>
          </a:xfrm>
        </p:grpSpPr>
        <p:sp>
          <p:nvSpPr>
            <p:cNvPr id="28" name="TextBox 28"/>
            <p:cNvSpPr txBox="1"/>
            <p:nvPr/>
          </p:nvSpPr>
          <p:spPr>
            <a:xfrm>
              <a:off x="452438" y="4451350"/>
              <a:ext cx="3399917" cy="6410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1600" indent="-101600" algn="l">
                <a:lnSpc>
                  <a:spcPts val="1800"/>
                </a:lnSpc>
                <a:buClr>
                  <a:srgbClr val="1D1D1B"/>
                </a:buClr>
                <a:buSzTx/>
                <a:buFontTx/>
                <a:buChar char="•"/>
              </a:pPr>
              <a:r>
                <a: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验收先行：每一阶段都有可执行检查，不靠口头承诺</a:t>
              </a:r>
              <a:endParaRPr lang="zh-CN" sz="94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101600" indent="-101600" algn="l">
                <a:lnSpc>
                  <a:spcPts val="1800"/>
                </a:lnSpc>
                <a:buClr>
                  <a:srgbClr val="1D1D1B"/>
                </a:buClr>
                <a:buSzTx/>
                <a:buFontTx/>
                <a:buChar char="•"/>
              </a:pPr>
              <a:r>
                <a: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边界清楚：哪些复用平台件、哪些自研，v27 方案 D28 已写明</a:t>
              </a:r>
              <a:endParaRPr lang="zh-CN" sz="94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101600" indent="-101600" algn="l">
                <a:lnSpc>
                  <a:spcPts val="1800"/>
                </a:lnSpc>
                <a:buClr>
                  <a:srgbClr val="1D1D1B"/>
                </a:buClr>
                <a:buSzTx/>
                <a:buFontTx/>
                <a:buChar char="•"/>
              </a:pPr>
              <a:r>
                <a: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风险可控：openjiuwen 按 commit 钉住，升级前先跑契约测试</a:t>
              </a:r>
              <a:endParaRPr lang="zh-CN" sz="94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31" name="p09-res"/>
          <p:cNvGrpSpPr/>
          <p:nvPr/>
        </p:nvGrpSpPr>
        <p:grpSpPr>
          <a:xfrm>
            <a:off x="6262688" y="4451350"/>
            <a:ext cx="3226816" cy="869632"/>
            <a:chOff x="6262688" y="4451350"/>
            <a:chExt cx="3226816" cy="869632"/>
          </a:xfrm>
        </p:grpSpPr>
        <p:sp>
          <p:nvSpPr>
            <p:cNvPr id="30" name="TextBox 30"/>
            <p:cNvSpPr txBox="1"/>
            <p:nvPr/>
          </p:nvSpPr>
          <p:spPr>
            <a:xfrm>
              <a:off x="6262688" y="4451350"/>
              <a:ext cx="3226816" cy="8696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01600" indent="-101600" algn="l">
                <a:lnSpc>
                  <a:spcPts val="1800"/>
                </a:lnSpc>
                <a:buClr>
                  <a:srgbClr val="1D1D1B"/>
                </a:buClr>
                <a:buSzTx/>
                <a:buFontTx/>
                <a:buChar char="•"/>
              </a:pPr>
              <a:r>
                <a: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计算：1 台开发机即可复跑全部门禁与演示（无 GPU 依赖）</a:t>
              </a:r>
              <a:endParaRPr lang="zh-CN" sz="94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101600" indent="-101600" algn="l">
                <a:lnSpc>
                  <a:spcPts val="1800"/>
                </a:lnSpc>
                <a:buClr>
                  <a:srgbClr val="1D1D1B"/>
                </a:buClr>
                <a:buSzTx/>
                <a:buFontTx/>
                <a:buChar char="•"/>
              </a:pPr>
              <a:r>
                <a: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数据：文献全文与快照存储；MANIFEST 元数据仓库</a:t>
              </a:r>
              <a:endParaRPr lang="zh-CN" sz="94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101600" indent="-101600" algn="l">
                <a:lnSpc>
                  <a:spcPts val="1800"/>
                </a:lnSpc>
                <a:buClr>
                  <a:srgbClr val="1D1D1B"/>
                </a:buClr>
                <a:buSzTx/>
                <a:buFontTx/>
                <a:buChar char="•"/>
              </a:pPr>
              <a:r>
                <a: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人力：算法 1、工程 1、科研领域专家 1（评审口径）</a:t>
              </a:r>
              <a:endParaRPr lang="zh-CN" sz="94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101600" indent="-101600" algn="l">
                <a:lnSpc>
                  <a:spcPts val="1800"/>
                </a:lnSpc>
                <a:buClr>
                  <a:srgbClr val="1D1D1B"/>
                </a:buClr>
                <a:buSzTx/>
                <a:buFontTx/>
                <a:buChar char="•"/>
              </a:pPr>
              <a:r>
                <a:rPr lang="zh-CN" sz="94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Demo：本地 CLI + 账本目录，可现场重放与篡改演示</a:t>
              </a:r>
              <a:endParaRPr lang="zh-CN" sz="94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/>
          <p:nvPr>
            <p:ph type="subTitle" idx="1"/>
          </p:nvPr>
        </p:nvSpPr>
        <p:spPr>
          <a:xfrm>
            <a:off x="208502" y="284798"/>
            <a:ext cx="10736485" cy="375952"/>
          </a:xfrm>
          <a:prstGeom prst="rect">
            <a:avLst/>
          </a:prstGeom>
          <a:noFill/>
          <a:ln>
            <a:noFill/>
          </a:ln>
        </p:spPr>
        <p:txBody>
          <a:bodyPr wrap="none" lIns="0" tIns="-63517" rIns="0" bIns="0" anchor="t" anchorCtr="0">
            <a:noAutofit/>
          </a:bodyPr>
          <a:lstStyle/>
          <a:p>
            <a:pPr algn="l"/>
            <a:r>
              <a:rPr 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材料完整性与参考文档</a:t>
            </a:r>
            <a:endParaRPr lang="zh-CN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93091" y="2784253"/>
            <a:ext cx="5405818" cy="1704975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31" name="p10-check"/>
          <p:cNvGrpSpPr/>
          <p:nvPr/>
        </p:nvGrpSpPr>
        <p:grpSpPr>
          <a:xfrm>
            <a:off x="451104" y="914400"/>
            <a:ext cx="4574446" cy="5306219"/>
            <a:chOff x="451104" y="914400"/>
            <a:chExt cx="4574446" cy="5306219"/>
          </a:xfrm>
        </p:grpSpPr>
        <p:sp>
          <p:nvSpPr>
            <p:cNvPr id="5" name="TextBox 5"/>
            <p:cNvSpPr txBox="1"/>
            <p:nvPr/>
          </p:nvSpPr>
          <p:spPr>
            <a:xfrm>
              <a:off x="451104" y="914400"/>
              <a:ext cx="21457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作品材料 · 必填要素逐项核对</a:t>
              </a:r>
              <a:endParaRPr 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7685" y="1384300"/>
              <a:ext cx="169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E7D3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✓</a:t>
              </a:r>
              <a:endParaRPr lang="zh-CN" sz="1120" b="1" dirty="0">
                <a:solidFill>
                  <a:srgbClr val="2E7D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6856" y="1397000"/>
              <a:ext cx="55415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创意名称</a:t>
              </a:r>
              <a:endParaRPr lang="zh-CN" sz="1010" b="1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85797" y="1409700"/>
              <a:ext cx="21405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思解 · 可被验证的科研论文生成系统</a:t>
              </a:r>
              <a:endParaRPr lang="zh-CN" sz="980" dirty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7685" y="1898650"/>
              <a:ext cx="169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E7D3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✓</a:t>
              </a:r>
              <a:endParaRPr lang="zh-CN" sz="1120" b="1" dirty="0">
                <a:solidFill>
                  <a:srgbClr val="2E7D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6856" y="1911350"/>
              <a:ext cx="55415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创意描述</a:t>
              </a:r>
              <a:endParaRPr lang="zh-CN" sz="1010" b="1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85797" y="1924050"/>
              <a:ext cx="283975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约 430 字（&lt;500），含问题、机制、编排与目标</a:t>
              </a:r>
              <a:endParaRPr lang="zh-CN" sz="980" dirty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7685" y="2413000"/>
              <a:ext cx="169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E7D3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✓</a:t>
              </a:r>
              <a:endParaRPr lang="zh-CN" sz="1120" b="1" dirty="0">
                <a:solidFill>
                  <a:srgbClr val="2E7D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6856" y="2425700"/>
              <a:ext cx="55415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所属主题</a:t>
              </a:r>
              <a:endParaRPr lang="zh-CN" sz="1010" b="1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85797" y="2438400"/>
              <a:ext cx="172496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科研赛道（论文生成与验证）</a:t>
              </a:r>
              <a:endParaRPr lang="zh-CN" sz="980" dirty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7685" y="2927350"/>
              <a:ext cx="169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E7D3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✓</a:t>
              </a:r>
              <a:endParaRPr lang="zh-CN" sz="1120" b="1" dirty="0">
                <a:solidFill>
                  <a:srgbClr val="2E7D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6856" y="2940050"/>
              <a:ext cx="55415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应用场景</a:t>
              </a:r>
              <a:endParaRPr lang="zh-CN" sz="1010" b="1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85797" y="2952750"/>
              <a:ext cx="255610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科研团队 / 期刊编辑 / 审稿人；痛点到影响</a:t>
              </a:r>
              <a:endParaRPr lang="zh-CN" sz="980" dirty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7685" y="3441700"/>
              <a:ext cx="169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E7D3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✓</a:t>
              </a:r>
              <a:endParaRPr lang="zh-CN" sz="1120" b="1" dirty="0">
                <a:solidFill>
                  <a:srgbClr val="2E7D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6856" y="3454400"/>
              <a:ext cx="55415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方案详情</a:t>
              </a:r>
              <a:endParaRPr lang="zh-CN" sz="1010" b="1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85797" y="3467100"/>
              <a:ext cx="189647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六项核心能力 + 优势 + 技术依赖</a:t>
              </a:r>
              <a:endParaRPr lang="zh-CN" sz="980" dirty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7685" y="3956050"/>
              <a:ext cx="169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E7D3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✓</a:t>
              </a:r>
              <a:endParaRPr lang="zh-CN" sz="1120" b="1" dirty="0">
                <a:solidFill>
                  <a:srgbClr val="2E7D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6856" y="3968750"/>
              <a:ext cx="41818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架构图</a:t>
              </a:r>
              <a:endParaRPr lang="zh-CN" sz="1010" b="1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85797" y="3981450"/>
              <a:ext cx="17447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八层总体架构（图见第 4 页）</a:t>
              </a:r>
              <a:endParaRPr lang="zh-CN" sz="980" dirty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7685" y="4470400"/>
              <a:ext cx="169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E7D3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✓</a:t>
              </a:r>
              <a:endParaRPr lang="zh-CN" sz="1120" b="1" dirty="0">
                <a:solidFill>
                  <a:srgbClr val="2E7D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6856" y="4483100"/>
              <a:ext cx="84789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DEMO / 示意</a:t>
              </a:r>
              <a:endParaRPr lang="zh-CN" sz="1010" b="1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85797" y="4495800"/>
              <a:ext cx="25890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真实数据端到端，48 项检查全绿（第 6 页）</a:t>
              </a:r>
              <a:endParaRPr lang="zh-CN" sz="980" dirty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7685" y="4984750"/>
              <a:ext cx="169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E7D3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✓</a:t>
              </a:r>
              <a:endParaRPr lang="zh-CN" sz="1120" b="1" dirty="0">
                <a:solidFill>
                  <a:srgbClr val="2E7D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6856" y="4997450"/>
              <a:ext cx="55415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0" b="1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四维评估</a:t>
              </a:r>
              <a:endParaRPr lang="zh-CN" sz="1010" b="1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185797" y="5010150"/>
              <a:ext cx="25363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门禁证据（第 8 页）+ 四维自评（第 7 页）</a:t>
              </a:r>
              <a:endParaRPr lang="zh-CN" sz="980" dirty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2438" y="6051550"/>
              <a:ext cx="267230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B5B5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全部必填要素齐备；页面顺序按评审阅读路径编排。</a:t>
              </a:r>
              <a:endParaRPr lang="zh-CN" sz="860" dirty="0">
                <a:solidFill>
                  <a:srgbClr val="5B5B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45" name="p10-refs"/>
          <p:cNvGrpSpPr/>
          <p:nvPr/>
        </p:nvGrpSpPr>
        <p:grpSpPr>
          <a:xfrm>
            <a:off x="6661404" y="914400"/>
            <a:ext cx="2725484" cy="4489132"/>
            <a:chOff x="6661404" y="914400"/>
            <a:chExt cx="2725484" cy="4489132"/>
          </a:xfrm>
        </p:grpSpPr>
        <p:sp>
          <p:nvSpPr>
            <p:cNvPr id="32" name="TextBox 32"/>
            <p:cNvSpPr txBox="1"/>
            <p:nvPr/>
          </p:nvSpPr>
          <p:spPr>
            <a:xfrm>
              <a:off x="6661404" y="91440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参考文档与可核查入口</a:t>
              </a:r>
              <a:endParaRPr 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19888" y="1409700"/>
              <a:ext cx="262611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规范</a:t>
              </a:r>
              <a:endParaRPr lang="zh-CN" sz="94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34238" y="1397000"/>
              <a:ext cx="2152650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RFC 8785 JSON Canonicalization Scheme</a:t>
              </a:r>
              <a:br>
                <a:rPr lang="en-US" sz="90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</a:br>
              <a:r>
                <a:rPr lang="en-US" sz="90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DOI 10.17487/RFC8785</a:t>
              </a:r>
              <a:endParaRPr lang="en-US" sz="9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19888" y="2171700"/>
              <a:ext cx="262611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方案</a:t>
              </a:r>
              <a:endParaRPr lang="zh-CN" sz="94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34238" y="2159000"/>
              <a:ext cx="1786890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zh-CN" sz="90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科研智能体总体方案 v27</a:t>
              </a:r>
              <a:br>
                <a:rPr lang="zh-CN" sz="90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</a:br>
              <a:r>
                <a:rPr lang="zh-CN" sz="90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D1–D28（含 D28 集成与复用边界）</a:t>
              </a:r>
              <a:endParaRPr lang="zh-CN" sz="9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19888" y="2933700"/>
              <a:ext cx="262611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规格</a:t>
              </a:r>
              <a:endParaRPr lang="zh-CN" sz="94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34238" y="2921000"/>
              <a:ext cx="1506855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zh-CN" sz="90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阶段 1 交付物 v1.7.0</a:t>
              </a:r>
              <a:br>
                <a:rPr lang="zh-CN" sz="90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</a:br>
              <a:r>
                <a:rPr lang="zh-CN" sz="90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六件 schema 与反例测试规格</a:t>
              </a:r>
              <a:endParaRPr lang="zh-CN" sz="9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19888" y="3695700"/>
              <a:ext cx="262611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实现</a:t>
              </a:r>
              <a:endParaRPr lang="zh-CN" sz="94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34238" y="3683000"/>
              <a:ext cx="1764030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zh-CN" sz="90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m1/ 八步链 · m1/rails.py 六道门</a:t>
              </a:r>
              <a:br>
                <a:rPr lang="zh-CN" sz="90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</a:br>
              <a:r>
                <a:rPr lang="zh-CN" sz="90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demo/run_e2e.py 端到端</a:t>
              </a:r>
              <a:endParaRPr lang="zh-CN" sz="9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19888" y="4457700"/>
              <a:ext cx="262611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验收</a:t>
              </a:r>
              <a:endParaRPr lang="zh-CN" sz="94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34238" y="4445000"/>
              <a:ext cx="1689735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zh-CN" sz="90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七道门禁全绿的 CI 记录</a:t>
              </a:r>
              <a:br>
                <a:rPr lang="zh-CN" sz="90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</a:br>
              <a:r>
                <a:rPr lang="en-US" sz="90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.github/workflows/gates.yml</a:t>
              </a:r>
              <a:endParaRPr lang="en-US" sz="9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19888" y="5219700"/>
              <a:ext cx="262611" cy="183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仓库</a:t>
              </a:r>
              <a:endParaRPr lang="zh-CN" sz="94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34238" y="5207000"/>
              <a:ext cx="1442085" cy="1631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zh-CN" sz="900" dirty="0">
                  <a:solidFill>
                    <a:srgbClr val="1D1D1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提交与变更见 CHANGELOG</a:t>
              </a:r>
              <a:endParaRPr lang="zh-CN" sz="9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5232</Words>
  <Application>WPS 演示</Application>
  <PresentationFormat>宽屏</PresentationFormat>
  <Paragraphs>471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11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Arial</vt:lpstr>
      <vt:lpstr>Calibri</vt:lpstr>
      <vt:lpstr>Georgia</vt:lpstr>
      <vt:lpstr>Georgia</vt:lpstr>
      <vt:lpstr>Georgia</vt:lpstr>
      <vt:lpstr>Arial</vt:lpstr>
      <vt:lpstr>Arial</vt:lpstr>
      <vt:lpstr>Arial Unicode MS</vt:lpstr>
      <vt:lpstr>等线</vt:lpstr>
      <vt:lpstr>Office 主题​​</vt:lpstr>
      <vt:lpstr>6_章节页</vt:lpstr>
      <vt:lpstr>End page</vt:lpstr>
      <vt:lpstr>思解 SIJIE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openJiuwen xxxx</dc:title>
  <dc:creator>zhangmingyang (A)</dc:creator>
  <cp:lastModifiedBy>WPS_1628153874</cp:lastModifiedBy>
  <cp:revision>9</cp:revision>
  <dcterms:created xsi:type="dcterms:W3CDTF">2026-04-09T09:34:00Z</dcterms:created>
  <dcterms:modified xsi:type="dcterms:W3CDTF">2026-10-28T11:55:09Z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2052-12.1.0.29161</vt:lpwstr>
  </property>
</Properties>
</file>